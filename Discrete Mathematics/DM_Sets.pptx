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1" r:id="rId3"/>
    <p:sldId id="257" r:id="rId4"/>
    <p:sldId id="261" r:id="rId5"/>
    <p:sldId id="258" r:id="rId6"/>
    <p:sldId id="259" r:id="rId7"/>
    <p:sldId id="26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672" autoAdjust="0"/>
  </p:normalViewPr>
  <p:slideViewPr>
    <p:cSldViewPr snapToGrid="0">
      <p:cViewPr varScale="1">
        <p:scale>
          <a:sx n="85" d="100"/>
          <a:sy n="85" d="100"/>
        </p:scale>
        <p:origin x="54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8/19/2026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8/19/2026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8/19/2026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8/19/2026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8/19/2026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8/19/2026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8/19/2026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8/19/2026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8/19/2026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914D3-8B5F-E3E1-7C01-F9E16D075155}"/>
              </a:ext>
            </a:extLst>
          </p:cNvPr>
          <p:cNvSpPr>
            <a:spLocks noGrp="1"/>
          </p:cNvSpPr>
          <p:nvPr>
            <p:ph type="ctrTitle"/>
          </p:nvPr>
        </p:nvSpPr>
        <p:spPr>
          <a:xfrm>
            <a:off x="1915128" y="2175933"/>
            <a:ext cx="8361229" cy="1710747"/>
          </a:xfrm>
        </p:spPr>
        <p:txBody>
          <a:bodyPr/>
          <a:lstStyle/>
          <a:p>
            <a:br>
              <a:rPr lang="en-US" sz="6000" dirty="0"/>
            </a:br>
            <a:r>
              <a:rPr lang="en-US" sz="6000" dirty="0"/>
              <a:t>3341</a:t>
            </a:r>
            <a:br>
              <a:rPr lang="en-US" sz="6000" dirty="0"/>
            </a:br>
            <a:r>
              <a:rPr lang="en-US" sz="6000" dirty="0"/>
              <a:t>DISCRETE MATHEMATICS</a:t>
            </a:r>
            <a:endParaRPr lang="en-IN" sz="6000" dirty="0"/>
          </a:p>
        </p:txBody>
      </p:sp>
      <p:sp>
        <p:nvSpPr>
          <p:cNvPr id="3" name="Subtitle 2">
            <a:extLst>
              <a:ext uri="{FF2B5EF4-FFF2-40B4-BE49-F238E27FC236}">
                <a16:creationId xmlns:a16="http://schemas.microsoft.com/office/drawing/2014/main" id="{35B30486-3655-70B1-2FED-FFD8826257B3}"/>
              </a:ext>
            </a:extLst>
          </p:cNvPr>
          <p:cNvSpPr>
            <a:spLocks noGrp="1"/>
          </p:cNvSpPr>
          <p:nvPr>
            <p:ph type="subTitle" idx="1"/>
          </p:nvPr>
        </p:nvSpPr>
        <p:spPr/>
        <p:txBody>
          <a:bodyPr/>
          <a:lstStyle/>
          <a:p>
            <a:r>
              <a:rPr lang="en-US" dirty="0"/>
              <a:t>Module 2:</a:t>
            </a:r>
          </a:p>
          <a:p>
            <a:r>
              <a:rPr lang="en-US" dirty="0"/>
              <a:t>SET THEORY</a:t>
            </a:r>
            <a:endParaRPr lang="en-IN" dirty="0"/>
          </a:p>
        </p:txBody>
      </p:sp>
    </p:spTree>
    <p:extLst>
      <p:ext uri="{BB962C8B-B14F-4D97-AF65-F5344CB8AC3E}">
        <p14:creationId xmlns:p14="http://schemas.microsoft.com/office/powerpoint/2010/main" val="1569716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2B419-1CC6-DED1-31D8-B25CE253728C}"/>
              </a:ext>
            </a:extLst>
          </p:cNvPr>
          <p:cNvSpPr>
            <a:spLocks noGrp="1"/>
          </p:cNvSpPr>
          <p:nvPr>
            <p:ph type="title"/>
          </p:nvPr>
        </p:nvSpPr>
        <p:spPr/>
        <p:txBody>
          <a:bodyPr/>
          <a:lstStyle/>
          <a:p>
            <a:r>
              <a:rPr lang="en-IN" dirty="0"/>
              <a:t>Contents</a:t>
            </a:r>
          </a:p>
        </p:txBody>
      </p:sp>
      <p:sp>
        <p:nvSpPr>
          <p:cNvPr id="3" name="Content Placeholder 2">
            <a:extLst>
              <a:ext uri="{FF2B5EF4-FFF2-40B4-BE49-F238E27FC236}">
                <a16:creationId xmlns:a16="http://schemas.microsoft.com/office/drawing/2014/main" id="{9A14CF92-1D16-BF7E-7662-A4DFA2D7C3E2}"/>
              </a:ext>
            </a:extLst>
          </p:cNvPr>
          <p:cNvSpPr>
            <a:spLocks noGrp="1"/>
          </p:cNvSpPr>
          <p:nvPr>
            <p:ph idx="1"/>
          </p:nvPr>
        </p:nvSpPr>
        <p:spPr/>
        <p:txBody>
          <a:bodyPr/>
          <a:lstStyle/>
          <a:p>
            <a:r>
              <a:rPr lang="en-US" b="1" dirty="0"/>
              <a:t>Set theory:-</a:t>
            </a:r>
            <a:r>
              <a:rPr lang="en-US" dirty="0"/>
              <a:t>Set representation</a:t>
            </a:r>
          </a:p>
          <a:p>
            <a:r>
              <a:rPr lang="en-US" dirty="0"/>
              <a:t> Types of Sets</a:t>
            </a:r>
          </a:p>
          <a:p>
            <a:r>
              <a:rPr lang="en-US" dirty="0"/>
              <a:t> Set operations</a:t>
            </a:r>
          </a:p>
          <a:p>
            <a:r>
              <a:rPr lang="en-US" dirty="0"/>
              <a:t> Algebra of sets</a:t>
            </a:r>
          </a:p>
          <a:p>
            <a:r>
              <a:rPr lang="en-US" dirty="0"/>
              <a:t> Inclusion-exclusion </a:t>
            </a:r>
            <a:r>
              <a:rPr lang="en-IN" dirty="0"/>
              <a:t>principle</a:t>
            </a:r>
          </a:p>
        </p:txBody>
      </p:sp>
    </p:spTree>
    <p:extLst>
      <p:ext uri="{BB962C8B-B14F-4D97-AF65-F5344CB8AC3E}">
        <p14:creationId xmlns:p14="http://schemas.microsoft.com/office/powerpoint/2010/main" val="2504303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3490F-E7B0-01A4-50A2-8AA880D7459B}"/>
              </a:ext>
            </a:extLst>
          </p:cNvPr>
          <p:cNvSpPr>
            <a:spLocks noGrp="1"/>
          </p:cNvSpPr>
          <p:nvPr>
            <p:ph type="title"/>
          </p:nvPr>
        </p:nvSpPr>
        <p:spPr/>
        <p:txBody>
          <a:bodyPr/>
          <a:lstStyle/>
          <a:p>
            <a:r>
              <a:rPr lang="en-US" dirty="0"/>
              <a:t>What is a set</a:t>
            </a:r>
            <a:endParaRPr lang="en-IN" dirty="0"/>
          </a:p>
        </p:txBody>
      </p:sp>
      <p:sp>
        <p:nvSpPr>
          <p:cNvPr id="3" name="Content Placeholder 2">
            <a:extLst>
              <a:ext uri="{FF2B5EF4-FFF2-40B4-BE49-F238E27FC236}">
                <a16:creationId xmlns:a16="http://schemas.microsoft.com/office/drawing/2014/main" id="{22A35B08-40B2-BCC1-28D8-BB8DB77AE853}"/>
              </a:ext>
            </a:extLst>
          </p:cNvPr>
          <p:cNvSpPr>
            <a:spLocks noGrp="1"/>
          </p:cNvSpPr>
          <p:nvPr>
            <p:ph idx="1"/>
          </p:nvPr>
        </p:nvSpPr>
        <p:spPr>
          <a:xfrm>
            <a:off x="1371600" y="1735667"/>
            <a:ext cx="9601200" cy="4131733"/>
          </a:xfrm>
        </p:spPr>
        <p:txBody>
          <a:bodyPr/>
          <a:lstStyle/>
          <a:p>
            <a:r>
              <a:rPr lang="en-IN" b="1" dirty="0"/>
              <a:t>Definition</a:t>
            </a:r>
          </a:p>
          <a:p>
            <a:pPr marL="0" indent="0">
              <a:buNone/>
            </a:pPr>
            <a:r>
              <a:rPr lang="en-IN" dirty="0"/>
              <a:t>	A </a:t>
            </a:r>
            <a:r>
              <a:rPr lang="en-IN" b="1" dirty="0"/>
              <a:t>set</a:t>
            </a:r>
            <a:r>
              <a:rPr lang="en-IN" dirty="0"/>
              <a:t> is a </a:t>
            </a:r>
            <a:r>
              <a:rPr lang="en-IN" b="1" dirty="0"/>
              <a:t>well-defined collection of distinct objects</a:t>
            </a:r>
            <a:r>
              <a:rPr lang="en-IN" dirty="0"/>
              <a:t>.</a:t>
            </a:r>
          </a:p>
          <a:p>
            <a:pPr marL="0" indent="0">
              <a:buNone/>
            </a:pPr>
            <a:r>
              <a:rPr lang="en-IN" dirty="0"/>
              <a:t>	The objects in a set are called </a:t>
            </a:r>
            <a:r>
              <a:rPr lang="en-IN" b="1" dirty="0"/>
              <a:t>elements</a:t>
            </a:r>
            <a:r>
              <a:rPr lang="en-IN" dirty="0"/>
              <a:t> or </a:t>
            </a:r>
            <a:r>
              <a:rPr lang="en-IN" b="1" dirty="0"/>
              <a:t>members</a:t>
            </a:r>
            <a:r>
              <a:rPr lang="en-IN" dirty="0"/>
              <a:t> of the set.</a:t>
            </a:r>
          </a:p>
          <a:p>
            <a:pPr marL="0" indent="0">
              <a:buNone/>
            </a:pPr>
            <a:r>
              <a:rPr lang="en-IN" dirty="0"/>
              <a:t>	A set is usually denoted by capital letters in English Alphabet.</a:t>
            </a:r>
          </a:p>
          <a:p>
            <a:r>
              <a:rPr lang="en-IN" b="1" dirty="0"/>
              <a:t>Examples</a:t>
            </a:r>
          </a:p>
          <a:p>
            <a:pPr marL="0" lvl="0" indent="0">
              <a:buNone/>
            </a:pPr>
            <a:r>
              <a:rPr lang="en-IN" dirty="0"/>
              <a:t>  	A = {1, 2, 3, 4, 5} </a:t>
            </a:r>
          </a:p>
          <a:p>
            <a:pPr marL="0" lvl="0" indent="0">
              <a:buNone/>
            </a:pPr>
            <a:r>
              <a:rPr lang="en-IN" dirty="0"/>
              <a:t>	B = {Apple, Mango, Orange} </a:t>
            </a:r>
          </a:p>
          <a:p>
            <a:pPr marL="0" lvl="0" indent="0">
              <a:buNone/>
            </a:pPr>
            <a:r>
              <a:rPr lang="en-IN" dirty="0"/>
              <a:t>	C = {Python, Java, C++} </a:t>
            </a:r>
          </a:p>
          <a:p>
            <a:pPr marL="0" indent="0">
              <a:buNone/>
            </a:pPr>
            <a:r>
              <a:rPr lang="en-IN" b="1" dirty="0"/>
              <a:t>  Note:</a:t>
            </a:r>
            <a:r>
              <a:rPr lang="en-IN" dirty="0"/>
              <a:t> Sets are usually represented using </a:t>
            </a:r>
            <a:r>
              <a:rPr lang="en-IN" b="1" dirty="0"/>
              <a:t>capital letters</a:t>
            </a:r>
            <a:r>
              <a:rPr lang="en-IN" dirty="0"/>
              <a:t> (A, B, C, X, Y, ...).</a:t>
            </a:r>
          </a:p>
          <a:p>
            <a:pPr marL="0" indent="0">
              <a:buNone/>
            </a:pPr>
            <a:endParaRPr lang="en-IN" dirty="0"/>
          </a:p>
        </p:txBody>
      </p:sp>
    </p:spTree>
    <p:extLst>
      <p:ext uri="{BB962C8B-B14F-4D97-AF65-F5344CB8AC3E}">
        <p14:creationId xmlns:p14="http://schemas.microsoft.com/office/powerpoint/2010/main" val="3961629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4E62E-39D0-E73D-3DFF-8D96D4E91649}"/>
              </a:ext>
            </a:extLst>
          </p:cNvPr>
          <p:cNvSpPr>
            <a:spLocks noGrp="1"/>
          </p:cNvSpPr>
          <p:nvPr>
            <p:ph type="title"/>
          </p:nvPr>
        </p:nvSpPr>
        <p:spPr/>
        <p:txBody>
          <a:bodyPr/>
          <a:lstStyle/>
          <a:p>
            <a:r>
              <a:rPr lang="en-US" dirty="0"/>
              <a:t>Common sets</a:t>
            </a:r>
            <a:endParaRPr lang="en-IN" dirty="0"/>
          </a:p>
        </p:txBody>
      </p:sp>
      <p:sp>
        <p:nvSpPr>
          <p:cNvPr id="3" name="Content Placeholder 2">
            <a:extLst>
              <a:ext uri="{FF2B5EF4-FFF2-40B4-BE49-F238E27FC236}">
                <a16:creationId xmlns:a16="http://schemas.microsoft.com/office/drawing/2014/main" id="{2BCC9226-5175-994B-BE76-258386F0CE3A}"/>
              </a:ext>
            </a:extLst>
          </p:cNvPr>
          <p:cNvSpPr>
            <a:spLocks noGrp="1"/>
          </p:cNvSpPr>
          <p:nvPr>
            <p:ph idx="1"/>
          </p:nvPr>
        </p:nvSpPr>
        <p:spPr/>
        <p:txBody>
          <a:bodyPr/>
          <a:lstStyle/>
          <a:p>
            <a:r>
              <a:rPr lang="en-US" dirty="0"/>
              <a:t>Natural numbers</a:t>
            </a:r>
          </a:p>
          <a:p>
            <a:pPr marL="0" indent="0">
              <a:buNone/>
            </a:pPr>
            <a:r>
              <a:rPr lang="en-US" dirty="0"/>
              <a:t>	N = {1,2,3,4,…}</a:t>
            </a:r>
          </a:p>
          <a:p>
            <a:r>
              <a:rPr lang="en-IN" dirty="0"/>
              <a:t>Integers</a:t>
            </a:r>
          </a:p>
          <a:p>
            <a:pPr marL="0" indent="0">
              <a:buNone/>
            </a:pPr>
            <a:r>
              <a:rPr lang="en-IN" dirty="0"/>
              <a:t>	Z = {….-2,-1,0,1,2,3,….}</a:t>
            </a:r>
          </a:p>
          <a:p>
            <a:r>
              <a:rPr lang="en-IN" dirty="0"/>
              <a:t>Whole numbers</a:t>
            </a:r>
          </a:p>
          <a:p>
            <a:pPr marL="0" indent="0">
              <a:buNone/>
            </a:pPr>
            <a:r>
              <a:rPr lang="en-IN" dirty="0"/>
              <a:t>	W =  {0,1,2,3,4…….}</a:t>
            </a:r>
          </a:p>
        </p:txBody>
      </p:sp>
    </p:spTree>
    <p:extLst>
      <p:ext uri="{BB962C8B-B14F-4D97-AF65-F5344CB8AC3E}">
        <p14:creationId xmlns:p14="http://schemas.microsoft.com/office/powerpoint/2010/main" val="1418470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7F1C6-9097-4D47-B835-4875B5D379DD}"/>
              </a:ext>
            </a:extLst>
          </p:cNvPr>
          <p:cNvSpPr>
            <a:spLocks noGrp="1"/>
          </p:cNvSpPr>
          <p:nvPr>
            <p:ph type="title"/>
          </p:nvPr>
        </p:nvSpPr>
        <p:spPr/>
        <p:txBody>
          <a:bodyPr/>
          <a:lstStyle/>
          <a:p>
            <a:r>
              <a:rPr lang="en-US" dirty="0"/>
              <a:t>Characteristics of a set</a:t>
            </a:r>
            <a:endParaRPr lang="en-IN" dirty="0"/>
          </a:p>
        </p:txBody>
      </p:sp>
      <p:sp>
        <p:nvSpPr>
          <p:cNvPr id="3" name="Content Placeholder 2">
            <a:extLst>
              <a:ext uri="{FF2B5EF4-FFF2-40B4-BE49-F238E27FC236}">
                <a16:creationId xmlns:a16="http://schemas.microsoft.com/office/drawing/2014/main" id="{CB3C54BD-6D76-D4D0-4FA7-8942CE60B375}"/>
              </a:ext>
            </a:extLst>
          </p:cNvPr>
          <p:cNvSpPr>
            <a:spLocks noGrp="1"/>
          </p:cNvSpPr>
          <p:nvPr>
            <p:ph idx="1"/>
          </p:nvPr>
        </p:nvSpPr>
        <p:spPr>
          <a:xfrm>
            <a:off x="1371600" y="1701799"/>
            <a:ext cx="9601200" cy="4284133"/>
          </a:xfrm>
        </p:spPr>
        <p:txBody>
          <a:bodyPr>
            <a:normAutofit fontScale="62500" lnSpcReduction="20000"/>
          </a:bodyPr>
          <a:lstStyle/>
          <a:p>
            <a:r>
              <a:rPr lang="en-IN" sz="2900" dirty="0"/>
              <a:t>The collection must be well-defined.</a:t>
            </a:r>
          </a:p>
          <a:p>
            <a:r>
              <a:rPr lang="en-IN" sz="2900" dirty="0"/>
              <a:t>A collection is </a:t>
            </a:r>
            <a:r>
              <a:rPr lang="en-IN" sz="2900" b="1" dirty="0"/>
              <a:t>well-defined</a:t>
            </a:r>
            <a:r>
              <a:rPr lang="en-IN" sz="2900" dirty="0"/>
              <a:t> if it is possible to decide whether an object belongs to the collection or not.</a:t>
            </a:r>
          </a:p>
          <a:p>
            <a:r>
              <a:rPr lang="en-IN" sz="2900" b="1" dirty="0"/>
              <a:t>Well-defined Collections</a:t>
            </a:r>
          </a:p>
          <a:p>
            <a:pPr marL="0" lvl="0" indent="0">
              <a:buNone/>
            </a:pPr>
            <a:r>
              <a:rPr lang="en-IN" sz="2900" dirty="0"/>
              <a:t>	Set of vowels in English </a:t>
            </a:r>
          </a:p>
          <a:p>
            <a:pPr marL="0" lvl="0" indent="0">
              <a:buNone/>
            </a:pPr>
            <a:r>
              <a:rPr lang="en-IN" sz="2900" dirty="0"/>
              <a:t>	Set of even numbers less than 10 </a:t>
            </a:r>
          </a:p>
          <a:p>
            <a:pPr marL="0" lvl="0" indent="0">
              <a:buNone/>
            </a:pPr>
            <a:r>
              <a:rPr lang="en-IN" sz="2900" dirty="0"/>
              <a:t>	Set of days in a week </a:t>
            </a:r>
          </a:p>
          <a:p>
            <a:r>
              <a:rPr lang="en-IN" sz="2900" b="1" dirty="0"/>
              <a:t>Not Well-defined Collections</a:t>
            </a:r>
          </a:p>
          <a:p>
            <a:pPr marL="0" lvl="0" indent="0">
              <a:buNone/>
            </a:pPr>
            <a:r>
              <a:rPr lang="en-IN" sz="2900" dirty="0"/>
              <a:t>	Set of beautiful flowers </a:t>
            </a:r>
          </a:p>
          <a:p>
            <a:pPr marL="0" lvl="0" indent="0">
              <a:buNone/>
            </a:pPr>
            <a:r>
              <a:rPr lang="en-IN" sz="2900" dirty="0"/>
              <a:t>	Set of intelligent students </a:t>
            </a:r>
          </a:p>
          <a:p>
            <a:pPr marL="0" lvl="0" indent="0">
              <a:buNone/>
            </a:pPr>
            <a:r>
              <a:rPr lang="en-IN" sz="2900" dirty="0"/>
              <a:t>	Set of good movies </a:t>
            </a:r>
          </a:p>
          <a:p>
            <a:pPr marL="0" indent="0">
              <a:buNone/>
            </a:pPr>
            <a:r>
              <a:rPr lang="en-IN" sz="2900" dirty="0"/>
              <a:t>          :- These are </a:t>
            </a:r>
            <a:r>
              <a:rPr lang="en-IN" sz="2900" b="1" dirty="0"/>
              <a:t>not sets</a:t>
            </a:r>
            <a:r>
              <a:rPr lang="en-IN" sz="2900" dirty="0"/>
              <a:t> because different people may have different opinions.</a:t>
            </a:r>
          </a:p>
          <a:p>
            <a:endParaRPr lang="en-IN" dirty="0"/>
          </a:p>
        </p:txBody>
      </p:sp>
    </p:spTree>
    <p:extLst>
      <p:ext uri="{BB962C8B-B14F-4D97-AF65-F5344CB8AC3E}">
        <p14:creationId xmlns:p14="http://schemas.microsoft.com/office/powerpoint/2010/main" val="192644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A4A0E-17F6-4BBE-D015-A7CD63CB6194}"/>
              </a:ext>
            </a:extLst>
          </p:cNvPr>
          <p:cNvSpPr>
            <a:spLocks noGrp="1"/>
          </p:cNvSpPr>
          <p:nvPr>
            <p:ph type="title"/>
          </p:nvPr>
        </p:nvSpPr>
        <p:spPr>
          <a:xfrm>
            <a:off x="1371600" y="685800"/>
            <a:ext cx="9601200" cy="177800"/>
          </a:xfrm>
        </p:spPr>
        <p:txBody>
          <a:bodyPr>
            <a:normAutofit fontScale="90000"/>
          </a:bodyPr>
          <a:lstStyle/>
          <a:p>
            <a:endParaRPr lang="en-IN" sz="900" dirty="0"/>
          </a:p>
        </p:txBody>
      </p:sp>
      <p:sp>
        <p:nvSpPr>
          <p:cNvPr id="3" name="Content Placeholder 2">
            <a:extLst>
              <a:ext uri="{FF2B5EF4-FFF2-40B4-BE49-F238E27FC236}">
                <a16:creationId xmlns:a16="http://schemas.microsoft.com/office/drawing/2014/main" id="{1F53D1F4-8955-DA11-BA07-172E727EA61B}"/>
              </a:ext>
            </a:extLst>
          </p:cNvPr>
          <p:cNvSpPr>
            <a:spLocks noGrp="1"/>
          </p:cNvSpPr>
          <p:nvPr>
            <p:ph idx="1"/>
          </p:nvPr>
        </p:nvSpPr>
        <p:spPr>
          <a:xfrm>
            <a:off x="1371600" y="1253067"/>
            <a:ext cx="9601200" cy="4614333"/>
          </a:xfrm>
        </p:spPr>
        <p:txBody>
          <a:bodyPr/>
          <a:lstStyle/>
          <a:p>
            <a:r>
              <a:rPr lang="en-IN" dirty="0"/>
              <a:t>Each element is </a:t>
            </a:r>
            <a:r>
              <a:rPr lang="en-IN" b="1" dirty="0"/>
              <a:t>distinct</a:t>
            </a:r>
            <a:r>
              <a:rPr lang="en-IN" dirty="0"/>
              <a:t> (no repetition).</a:t>
            </a:r>
          </a:p>
          <a:p>
            <a:r>
              <a:rPr lang="en-IN" dirty="0"/>
              <a:t>Repeated elements are listed once</a:t>
            </a:r>
          </a:p>
          <a:p>
            <a:pPr marL="0" indent="0">
              <a:buNone/>
            </a:pPr>
            <a:r>
              <a:rPr lang="en-IN" dirty="0"/>
              <a:t>	</a:t>
            </a:r>
            <a:r>
              <a:rPr lang="en-IN" dirty="0" err="1"/>
              <a:t>eg</a:t>
            </a:r>
            <a:r>
              <a:rPr lang="en-IN" dirty="0"/>
              <a:t> : {</a:t>
            </a:r>
            <a:r>
              <a:rPr lang="en-IN" dirty="0" err="1"/>
              <a:t>a,b,a,c,b,a</a:t>
            </a:r>
            <a:r>
              <a:rPr lang="en-IN" dirty="0"/>
              <a:t>} = {</a:t>
            </a:r>
            <a:r>
              <a:rPr lang="en-IN" dirty="0" err="1"/>
              <a:t>a,b,c</a:t>
            </a:r>
            <a:r>
              <a:rPr lang="en-IN" dirty="0"/>
              <a:t>}</a:t>
            </a:r>
          </a:p>
          <a:p>
            <a:endParaRPr lang="en-IN" dirty="0"/>
          </a:p>
          <a:p>
            <a:endParaRPr lang="en-IN" dirty="0"/>
          </a:p>
          <a:p>
            <a:r>
              <a:rPr lang="en-IN" dirty="0"/>
              <a:t>The order of elements </a:t>
            </a:r>
            <a:r>
              <a:rPr lang="en-IN" b="1" dirty="0"/>
              <a:t>does not matter.</a:t>
            </a:r>
          </a:p>
          <a:p>
            <a:r>
              <a:rPr lang="en-IN" dirty="0"/>
              <a:t>A set is an unordered collection of objects.</a:t>
            </a:r>
          </a:p>
          <a:p>
            <a:pPr marL="0" indent="0">
              <a:buNone/>
            </a:pPr>
            <a:r>
              <a:rPr lang="en-IN" b="1" dirty="0"/>
              <a:t>	</a:t>
            </a:r>
            <a:r>
              <a:rPr lang="en-IN" dirty="0" err="1"/>
              <a:t>eg</a:t>
            </a:r>
            <a:r>
              <a:rPr lang="en-IN" dirty="0"/>
              <a:t> : {3,2,1} = {1,2,3} = {2,1,3}</a:t>
            </a:r>
          </a:p>
        </p:txBody>
      </p:sp>
    </p:spTree>
    <p:extLst>
      <p:ext uri="{BB962C8B-B14F-4D97-AF65-F5344CB8AC3E}">
        <p14:creationId xmlns:p14="http://schemas.microsoft.com/office/powerpoint/2010/main" val="3199422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A952C-B596-FC62-C1CA-AF3A1AE71549}"/>
              </a:ext>
            </a:extLst>
          </p:cNvPr>
          <p:cNvSpPr>
            <a:spLocks noGrp="1"/>
          </p:cNvSpPr>
          <p:nvPr>
            <p:ph type="title"/>
          </p:nvPr>
        </p:nvSpPr>
        <p:spPr>
          <a:xfrm>
            <a:off x="1371600" y="685800"/>
            <a:ext cx="4817533" cy="1485900"/>
          </a:xfrm>
        </p:spPr>
        <p:txBody>
          <a:bodyPr vert="horz" lIns="91440" tIns="45720" rIns="91440" bIns="45720" rtlCol="0" anchor="t">
            <a:normAutofit/>
          </a:bodyPr>
          <a:lstStyle/>
          <a:p>
            <a:r>
              <a:rPr lang="en-US" dirty="0"/>
              <a:t>Elements of a set</a:t>
            </a:r>
          </a:p>
        </p:txBody>
      </p:sp>
      <p:sp>
        <p:nvSpPr>
          <p:cNvPr id="6" name="TextBox 5">
            <a:extLst>
              <a:ext uri="{FF2B5EF4-FFF2-40B4-BE49-F238E27FC236}">
                <a16:creationId xmlns:a16="http://schemas.microsoft.com/office/drawing/2014/main" id="{6BE4185D-061A-C1DC-0994-84FA20A28607}"/>
              </a:ext>
            </a:extLst>
          </p:cNvPr>
          <p:cNvSpPr txBox="1"/>
          <p:nvPr/>
        </p:nvSpPr>
        <p:spPr>
          <a:xfrm>
            <a:off x="1371600" y="2286000"/>
            <a:ext cx="4033520" cy="3581400"/>
          </a:xfrm>
          <a:prstGeom prst="rect">
            <a:avLst/>
          </a:prstGeom>
        </p:spPr>
        <p:txBody>
          <a:bodyPr vert="horz" lIns="91440" tIns="45720" rIns="91440" bIns="45720" rtlCol="0">
            <a:normAutofit/>
          </a:bodyPr>
          <a:lstStyle/>
          <a:p>
            <a:pPr marL="384048" indent="-384048" defTabSz="914400">
              <a:lnSpc>
                <a:spcPct val="94000"/>
              </a:lnSpc>
              <a:spcAft>
                <a:spcPts val="200"/>
              </a:spcAft>
              <a:buFont typeface="Franklin Gothic Book" panose="020B0503020102020204" pitchFamily="34" charset="0"/>
              <a:buNone/>
            </a:pPr>
            <a:r>
              <a:rPr lang="en-US" dirty="0">
                <a:solidFill>
                  <a:schemeClr val="tx2"/>
                </a:solidFill>
              </a:rPr>
              <a:t>The objects inside a set are called </a:t>
            </a:r>
            <a:r>
              <a:rPr lang="en-US" b="1" dirty="0">
                <a:solidFill>
                  <a:schemeClr val="tx2"/>
                </a:solidFill>
              </a:rPr>
              <a:t>elements</a:t>
            </a:r>
            <a:r>
              <a:rPr lang="en-US" dirty="0">
                <a:solidFill>
                  <a:schemeClr val="tx2"/>
                </a:solidFill>
              </a:rPr>
              <a:t> or </a:t>
            </a:r>
            <a:r>
              <a:rPr lang="en-US" b="1" dirty="0">
                <a:solidFill>
                  <a:schemeClr val="tx2"/>
                </a:solidFill>
              </a:rPr>
              <a:t>members</a:t>
            </a:r>
            <a:r>
              <a:rPr lang="en-US" dirty="0">
                <a:solidFill>
                  <a:schemeClr val="tx2"/>
                </a:solidFill>
              </a:rPr>
              <a:t>.</a:t>
            </a:r>
            <a:endParaRPr lang="en-US" b="1" dirty="0">
              <a:solidFill>
                <a:schemeClr val="tx2"/>
              </a:solidFill>
            </a:endParaRPr>
          </a:p>
          <a:p>
            <a:pPr marL="384048" indent="-384048" defTabSz="914400">
              <a:lnSpc>
                <a:spcPct val="94000"/>
              </a:lnSpc>
              <a:spcAft>
                <a:spcPts val="200"/>
              </a:spcAft>
              <a:buFont typeface="Franklin Gothic Book" panose="020B0503020102020204" pitchFamily="34" charset="0"/>
              <a:buNone/>
            </a:pPr>
            <a:r>
              <a:rPr lang="en-US" b="1" dirty="0">
                <a:solidFill>
                  <a:schemeClr val="tx2"/>
                </a:solidFill>
              </a:rPr>
              <a:t>Example</a:t>
            </a:r>
          </a:p>
          <a:p>
            <a:pPr marL="384048" indent="-384048" defTabSz="914400">
              <a:lnSpc>
                <a:spcPct val="94000"/>
              </a:lnSpc>
              <a:spcAft>
                <a:spcPts val="200"/>
              </a:spcAft>
              <a:buFont typeface="Franklin Gothic Book" panose="020B0503020102020204" pitchFamily="34" charset="0"/>
              <a:buNone/>
            </a:pPr>
            <a:r>
              <a:rPr lang="en-US" dirty="0">
                <a:solidFill>
                  <a:schemeClr val="tx2"/>
                </a:solidFill>
              </a:rPr>
              <a:t>A = {2, 4, 6, 8}</a:t>
            </a:r>
          </a:p>
          <a:p>
            <a:pPr marL="384048" lvl="0" indent="-384048" defTabSz="914400">
              <a:lnSpc>
                <a:spcPct val="94000"/>
              </a:lnSpc>
              <a:spcAft>
                <a:spcPts val="200"/>
              </a:spcAft>
              <a:buFont typeface="Franklin Gothic Book" panose="020B0503020102020204" pitchFamily="34" charset="0"/>
              <a:buChar char="•"/>
            </a:pPr>
            <a:r>
              <a:rPr lang="en-US" dirty="0">
                <a:solidFill>
                  <a:schemeClr val="tx2"/>
                </a:solidFill>
              </a:rPr>
              <a:t>4 ∈ A </a:t>
            </a:r>
          </a:p>
          <a:p>
            <a:pPr marL="384048" lvl="0" indent="-384048" defTabSz="914400">
              <a:lnSpc>
                <a:spcPct val="94000"/>
              </a:lnSpc>
              <a:spcAft>
                <a:spcPts val="200"/>
              </a:spcAft>
              <a:buFont typeface="Franklin Gothic Book" panose="020B0503020102020204" pitchFamily="34" charset="0"/>
              <a:buChar char="•"/>
            </a:pPr>
            <a:r>
              <a:rPr lang="en-US" dirty="0">
                <a:solidFill>
                  <a:schemeClr val="tx2"/>
                </a:solidFill>
              </a:rPr>
              <a:t>5 ∉ A</a:t>
            </a:r>
          </a:p>
        </p:txBody>
      </p:sp>
      <p:graphicFrame>
        <p:nvGraphicFramePr>
          <p:cNvPr id="4" name="Content Placeholder 3">
            <a:extLst>
              <a:ext uri="{FF2B5EF4-FFF2-40B4-BE49-F238E27FC236}">
                <a16:creationId xmlns:a16="http://schemas.microsoft.com/office/drawing/2014/main" id="{C53F39EB-8755-4628-6199-05DC67756407}"/>
              </a:ext>
            </a:extLst>
          </p:cNvPr>
          <p:cNvGraphicFramePr>
            <a:graphicFrameLocks noGrp="1"/>
          </p:cNvGraphicFramePr>
          <p:nvPr>
            <p:ph idx="1"/>
            <p:extLst>
              <p:ext uri="{D42A27DB-BD31-4B8C-83A1-F6EECF244321}">
                <p14:modId xmlns:p14="http://schemas.microsoft.com/office/powerpoint/2010/main" val="3267063796"/>
              </p:ext>
            </p:extLst>
          </p:nvPr>
        </p:nvGraphicFramePr>
        <p:xfrm>
          <a:off x="5588001" y="2149352"/>
          <a:ext cx="5960532" cy="2853724"/>
        </p:xfrm>
        <a:graphic>
          <a:graphicData uri="http://schemas.openxmlformats.org/drawingml/2006/table">
            <a:tbl>
              <a:tblPr>
                <a:solidFill>
                  <a:schemeClr val="bg1">
                    <a:lumMod val="95000"/>
                  </a:schemeClr>
                </a:solidFill>
              </a:tblPr>
              <a:tblGrid>
                <a:gridCol w="1570954">
                  <a:extLst>
                    <a:ext uri="{9D8B030D-6E8A-4147-A177-3AD203B41FA5}">
                      <a16:colId xmlns:a16="http://schemas.microsoft.com/office/drawing/2014/main" val="2852746175"/>
                    </a:ext>
                  </a:extLst>
                </a:gridCol>
                <a:gridCol w="4389578">
                  <a:extLst>
                    <a:ext uri="{9D8B030D-6E8A-4147-A177-3AD203B41FA5}">
                      <a16:colId xmlns:a16="http://schemas.microsoft.com/office/drawing/2014/main" val="3790065700"/>
                    </a:ext>
                  </a:extLst>
                </a:gridCol>
              </a:tblGrid>
              <a:tr h="688371">
                <a:tc>
                  <a:txBody>
                    <a:bodyPr/>
                    <a:lstStyle/>
                    <a:p>
                      <a:pPr>
                        <a:buNone/>
                      </a:pPr>
                      <a:r>
                        <a:rPr lang="en-IN" sz="2600" cap="none" spc="0">
                          <a:solidFill>
                            <a:schemeClr val="tx1"/>
                          </a:solidFill>
                        </a:rPr>
                        <a:t>Symbol</a:t>
                      </a:r>
                    </a:p>
                  </a:txBody>
                  <a:tcPr marL="196145" marR="196145" marT="196145" marB="98073"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IN" sz="2600" cap="none" spc="0">
                          <a:solidFill>
                            <a:schemeClr val="tx1"/>
                          </a:solidFill>
                        </a:rPr>
                        <a:t>Meaning</a:t>
                      </a:r>
                    </a:p>
                  </a:txBody>
                  <a:tcPr marL="196145" marR="196145" marT="196145" marB="98073"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67238170"/>
                  </a:ext>
                </a:extLst>
              </a:tr>
              <a:tr h="1076568">
                <a:tc>
                  <a:txBody>
                    <a:bodyPr/>
                    <a:lstStyle/>
                    <a:p>
                      <a:pPr>
                        <a:buNone/>
                      </a:pPr>
                      <a:r>
                        <a:rPr lang="en-IN" sz="2600" cap="none" spc="0">
                          <a:solidFill>
                            <a:schemeClr val="tx1"/>
                          </a:solidFill>
                        </a:rPr>
                        <a:t>∈</a:t>
                      </a:r>
                    </a:p>
                  </a:txBody>
                  <a:tcPr marL="196145" marR="196145" marT="196145" marB="9807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2600" cap="none" spc="0" dirty="0">
                          <a:solidFill>
                            <a:schemeClr val="tx1"/>
                          </a:solidFill>
                        </a:rPr>
                        <a:t>Belongs to (is an element of)</a:t>
                      </a:r>
                    </a:p>
                  </a:txBody>
                  <a:tcPr marL="196145" marR="196145" marT="196145" marB="9807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935397641"/>
                  </a:ext>
                </a:extLst>
              </a:tr>
              <a:tr h="1076568">
                <a:tc>
                  <a:txBody>
                    <a:bodyPr/>
                    <a:lstStyle/>
                    <a:p>
                      <a:pPr>
                        <a:buNone/>
                      </a:pPr>
                      <a:r>
                        <a:rPr lang="en-IN" sz="2600" cap="none" spc="0">
                          <a:solidFill>
                            <a:schemeClr val="tx1"/>
                          </a:solidFill>
                        </a:rPr>
                        <a:t>∉</a:t>
                      </a:r>
                    </a:p>
                  </a:txBody>
                  <a:tcPr marL="196145" marR="196145" marT="196145" marB="9807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2600" cap="none" spc="0" dirty="0">
                          <a:solidFill>
                            <a:schemeClr val="tx1"/>
                          </a:solidFill>
                        </a:rPr>
                        <a:t>Does not belong to (is not an element of)</a:t>
                      </a:r>
                    </a:p>
                  </a:txBody>
                  <a:tcPr marL="196145" marR="196145" marT="196145" marB="9807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384660786"/>
                  </a:ext>
                </a:extLst>
              </a:tr>
            </a:tbl>
          </a:graphicData>
        </a:graphic>
      </p:graphicFrame>
    </p:spTree>
    <p:extLst>
      <p:ext uri="{BB962C8B-B14F-4D97-AF65-F5344CB8AC3E}">
        <p14:creationId xmlns:p14="http://schemas.microsoft.com/office/powerpoint/2010/main" val="676002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B67A3-5BB3-3B3B-E70F-2A33791982A2}"/>
              </a:ext>
            </a:extLst>
          </p:cNvPr>
          <p:cNvSpPr>
            <a:spLocks noGrp="1"/>
          </p:cNvSpPr>
          <p:nvPr>
            <p:ph type="title"/>
          </p:nvPr>
        </p:nvSpPr>
        <p:spPr/>
        <p:txBody>
          <a:bodyPr/>
          <a:lstStyle/>
          <a:p>
            <a:r>
              <a:rPr lang="en-US" dirty="0"/>
              <a:t>Representation of sets</a:t>
            </a:r>
            <a:endParaRPr lang="en-IN" dirty="0"/>
          </a:p>
        </p:txBody>
      </p:sp>
      <p:sp>
        <p:nvSpPr>
          <p:cNvPr id="3" name="Content Placeholder 2">
            <a:extLst>
              <a:ext uri="{FF2B5EF4-FFF2-40B4-BE49-F238E27FC236}">
                <a16:creationId xmlns:a16="http://schemas.microsoft.com/office/drawing/2014/main" id="{64FDE012-A823-E1F4-56E7-B96A2FCA6A2A}"/>
              </a:ext>
            </a:extLst>
          </p:cNvPr>
          <p:cNvSpPr>
            <a:spLocks noGrp="1"/>
          </p:cNvSpPr>
          <p:nvPr>
            <p:ph idx="1"/>
          </p:nvPr>
        </p:nvSpPr>
        <p:spPr/>
        <p:txBody>
          <a:bodyPr/>
          <a:lstStyle/>
          <a:p>
            <a:r>
              <a:rPr lang="en-IN" dirty="0"/>
              <a:t>A set can be represented in </a:t>
            </a:r>
            <a:r>
              <a:rPr lang="en-IN" b="1" dirty="0"/>
              <a:t>two ways</a:t>
            </a:r>
            <a:r>
              <a:rPr lang="en-IN" dirty="0"/>
              <a:t>:</a:t>
            </a:r>
          </a:p>
          <a:p>
            <a:pPr marL="0" lvl="0" indent="0">
              <a:buNone/>
            </a:pPr>
            <a:r>
              <a:rPr lang="en-IN" b="1" dirty="0"/>
              <a:t>	1. Roster (Tabular) Form</a:t>
            </a:r>
            <a:r>
              <a:rPr lang="en-IN" dirty="0"/>
              <a:t> </a:t>
            </a:r>
          </a:p>
          <a:p>
            <a:pPr marL="0" lvl="0" indent="0">
              <a:buNone/>
            </a:pPr>
            <a:r>
              <a:rPr lang="en-IN" b="1" dirty="0"/>
              <a:t>	2. Set Builder Form</a:t>
            </a:r>
            <a:r>
              <a:rPr lang="en-IN" dirty="0"/>
              <a:t> </a:t>
            </a:r>
          </a:p>
          <a:p>
            <a:endParaRPr lang="en-IN" dirty="0"/>
          </a:p>
        </p:txBody>
      </p:sp>
    </p:spTree>
    <p:extLst>
      <p:ext uri="{BB962C8B-B14F-4D97-AF65-F5344CB8AC3E}">
        <p14:creationId xmlns:p14="http://schemas.microsoft.com/office/powerpoint/2010/main" val="3831290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14100-A4AA-2831-8521-E44069F0915F}"/>
              </a:ext>
            </a:extLst>
          </p:cNvPr>
          <p:cNvSpPr>
            <a:spLocks noGrp="1"/>
          </p:cNvSpPr>
          <p:nvPr>
            <p:ph type="title"/>
          </p:nvPr>
        </p:nvSpPr>
        <p:spPr>
          <a:xfrm>
            <a:off x="1371600" y="685800"/>
            <a:ext cx="9601200" cy="1041400"/>
          </a:xfrm>
        </p:spPr>
        <p:txBody>
          <a:bodyPr/>
          <a:lstStyle/>
          <a:p>
            <a:r>
              <a:rPr lang="en-US" dirty="0"/>
              <a:t>Roster (Tabular) Form</a:t>
            </a:r>
            <a:endParaRPr lang="en-IN" dirty="0"/>
          </a:p>
        </p:txBody>
      </p:sp>
      <p:sp>
        <p:nvSpPr>
          <p:cNvPr id="3" name="Content Placeholder 2">
            <a:extLst>
              <a:ext uri="{FF2B5EF4-FFF2-40B4-BE49-F238E27FC236}">
                <a16:creationId xmlns:a16="http://schemas.microsoft.com/office/drawing/2014/main" id="{92C409E4-3FD2-E2D0-18BE-95C0B1D1BCEB}"/>
              </a:ext>
            </a:extLst>
          </p:cNvPr>
          <p:cNvSpPr>
            <a:spLocks noGrp="1"/>
          </p:cNvSpPr>
          <p:nvPr>
            <p:ph idx="1"/>
          </p:nvPr>
        </p:nvSpPr>
        <p:spPr>
          <a:xfrm>
            <a:off x="1371600" y="1803400"/>
            <a:ext cx="9601200" cy="3581400"/>
          </a:xfrm>
        </p:spPr>
        <p:txBody>
          <a:bodyPr/>
          <a:lstStyle/>
          <a:p>
            <a:pPr marL="0" indent="0">
              <a:buNone/>
            </a:pPr>
            <a:endParaRPr lang="en-IN" b="1" dirty="0"/>
          </a:p>
          <a:p>
            <a:r>
              <a:rPr lang="en-IN" b="1" dirty="0"/>
              <a:t>Definition</a:t>
            </a:r>
          </a:p>
          <a:p>
            <a:pPr marL="0" indent="0">
              <a:buNone/>
            </a:pPr>
            <a:r>
              <a:rPr lang="en-IN" dirty="0"/>
              <a:t>	In roster form, </a:t>
            </a:r>
            <a:r>
              <a:rPr lang="en-IN" b="1" dirty="0"/>
              <a:t>all the elements of the set are listed inside curly braces</a:t>
            </a:r>
            <a:r>
              <a:rPr lang="en-IN" dirty="0"/>
              <a:t>.</a:t>
            </a:r>
          </a:p>
          <a:p>
            <a:r>
              <a:rPr lang="en-IN" b="1" dirty="0"/>
              <a:t>Examples</a:t>
            </a:r>
          </a:p>
          <a:p>
            <a:pPr marL="0" indent="0">
              <a:buNone/>
            </a:pPr>
            <a:r>
              <a:rPr lang="en-IN" dirty="0"/>
              <a:t>	A = {1, 2, 3, 4, 5}</a:t>
            </a:r>
          </a:p>
          <a:p>
            <a:pPr marL="0" indent="0">
              <a:buNone/>
            </a:pPr>
            <a:r>
              <a:rPr lang="en-IN" dirty="0"/>
              <a:t>	B = {a, e, </a:t>
            </a:r>
            <a:r>
              <a:rPr lang="en-IN" dirty="0" err="1"/>
              <a:t>i</a:t>
            </a:r>
            <a:r>
              <a:rPr lang="en-IN" dirty="0"/>
              <a:t>, o, u}</a:t>
            </a:r>
          </a:p>
          <a:p>
            <a:pPr marL="0" indent="0">
              <a:buNone/>
            </a:pPr>
            <a:r>
              <a:rPr lang="en-IN" dirty="0"/>
              <a:t>	C = {Monday, Tuesday, Wednesday}</a:t>
            </a:r>
          </a:p>
          <a:p>
            <a:endParaRPr lang="en-IN" dirty="0"/>
          </a:p>
        </p:txBody>
      </p:sp>
    </p:spTree>
    <p:extLst>
      <p:ext uri="{BB962C8B-B14F-4D97-AF65-F5344CB8AC3E}">
        <p14:creationId xmlns:p14="http://schemas.microsoft.com/office/powerpoint/2010/main" val="815108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8B74-1F4E-9697-168D-F21FF4CC4C1E}"/>
              </a:ext>
            </a:extLst>
          </p:cNvPr>
          <p:cNvSpPr>
            <a:spLocks noGrp="1"/>
          </p:cNvSpPr>
          <p:nvPr>
            <p:ph type="title"/>
          </p:nvPr>
        </p:nvSpPr>
        <p:spPr>
          <a:xfrm>
            <a:off x="1371600" y="685800"/>
            <a:ext cx="9601200" cy="948267"/>
          </a:xfrm>
        </p:spPr>
        <p:txBody>
          <a:bodyPr/>
          <a:lstStyle/>
          <a:p>
            <a:r>
              <a:rPr lang="en-US" dirty="0"/>
              <a:t>Set builder form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EE0067-D2B3-6C49-310C-6059382C1643}"/>
                  </a:ext>
                </a:extLst>
              </p:cNvPr>
              <p:cNvSpPr>
                <a:spLocks noGrp="1"/>
              </p:cNvSpPr>
              <p:nvPr>
                <p:ph idx="1"/>
              </p:nvPr>
            </p:nvSpPr>
            <p:spPr>
              <a:xfrm>
                <a:off x="1371600" y="1938866"/>
                <a:ext cx="9601200" cy="3903134"/>
              </a:xfrm>
            </p:spPr>
            <p:txBody>
              <a:bodyPr>
                <a:normAutofit fontScale="92500" lnSpcReduction="20000"/>
              </a:bodyPr>
              <a:lstStyle/>
              <a:p>
                <a:r>
                  <a:rPr lang="en-IN" b="1" dirty="0"/>
                  <a:t>Definition</a:t>
                </a:r>
              </a:p>
              <a:p>
                <a:pPr marL="0" indent="0">
                  <a:buNone/>
                </a:pPr>
                <a:r>
                  <a:rPr lang="en-IN" dirty="0"/>
                  <a:t>	In set builder form, a set is represented by describing the </a:t>
                </a:r>
                <a:r>
                  <a:rPr lang="en-IN" b="1" dirty="0"/>
                  <a:t>property or rule</a:t>
                </a:r>
                <a:r>
                  <a:rPr lang="en-IN" dirty="0"/>
                  <a:t> satisfied 	by its elements.</a:t>
                </a:r>
              </a:p>
              <a:p>
                <a:r>
                  <a:rPr lang="en-IN" b="1" dirty="0"/>
                  <a:t>General Form :		</a:t>
                </a:r>
                <a14:m>
                  <m:oMath xmlns:m="http://schemas.openxmlformats.org/officeDocument/2006/math">
                    <m:r>
                      <a:rPr lang="en-IN" i="1">
                        <a:latin typeface="Cambria Math" panose="02040503050406030204" pitchFamily="18" charset="0"/>
                      </a:rPr>
                      <m:t>𝐴</m:t>
                    </m:r>
                    <m:r>
                      <a:rPr lang="en-IN">
                        <a:latin typeface="Cambria Math" panose="02040503050406030204" pitchFamily="18" charset="0"/>
                      </a:rPr>
                      <m:t>=</m:t>
                    </m:r>
                    <m:d>
                      <m:dPr>
                        <m:begChr m:val="{"/>
                        <m:endChr m:val="}"/>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r>
                          <m:rPr>
                            <m:nor/>
                          </m:rPr>
                          <a:rPr lang="en-IN" i="0"/>
                          <m:t>x satisfies a given property</m:t>
                        </m:r>
                      </m:e>
                    </m:d>
                  </m:oMath>
                </a14:m>
                <a:endParaRPr lang="en-IN" b="0" dirty="0"/>
              </a:p>
              <a:p>
                <a:r>
                  <a:rPr lang="en-IN" dirty="0"/>
                  <a:t>Read as:</a:t>
                </a:r>
              </a:p>
              <a:p>
                <a:pPr marL="0" indent="0">
                  <a:buNone/>
                </a:pPr>
                <a:r>
                  <a:rPr lang="en-IN" b="1" dirty="0"/>
                  <a:t>	"A is the set of all x such that x satisfies the given property."</a:t>
                </a:r>
                <a:endParaRPr lang="en-IN" dirty="0"/>
              </a:p>
              <a:p>
                <a:r>
                  <a:rPr lang="en-IN" b="1" dirty="0"/>
                  <a:t>Examples</a:t>
                </a:r>
              </a:p>
              <a:p>
                <a:pPr marL="0" indent="0">
                  <a:buNone/>
                </a:pPr>
                <a:r>
                  <a:rPr lang="en-IN" dirty="0"/>
                  <a:t>	A = {x | x is an even number less than 10}</a:t>
                </a:r>
              </a:p>
              <a:p>
                <a:pPr marL="0" indent="0">
                  <a:buNone/>
                </a:pPr>
                <a:r>
                  <a:rPr lang="en-IN" dirty="0"/>
                  <a:t>	A = {2,4,6,8}</a:t>
                </a:r>
              </a:p>
              <a:p>
                <a:pPr marL="0" indent="0">
                  <a:buNone/>
                </a:pPr>
                <a:r>
                  <a:rPr lang="en-IN" dirty="0"/>
                  <a:t>	B = {x | x is a vowel in the English alphabet}</a:t>
                </a:r>
              </a:p>
              <a:p>
                <a:pPr marL="0" indent="0">
                  <a:buNone/>
                </a:pPr>
                <a:r>
                  <a:rPr lang="en-IN" i="1" dirty="0"/>
                  <a:t>A = {x: x = a</a:t>
                </a:r>
                <a:r>
                  <a:rPr lang="en-IN" i="1" baseline="30000" dirty="0"/>
                  <a:t>3</a:t>
                </a:r>
                <a:r>
                  <a:rPr lang="en-IN" i="1" dirty="0"/>
                  <a:t>, a ∈ N, a &lt; 9}</a:t>
                </a:r>
                <a:endParaRPr lang="en-IN" dirty="0"/>
              </a:p>
              <a:p>
                <a:endParaRPr lang="en-IN" dirty="0"/>
              </a:p>
            </p:txBody>
          </p:sp>
        </mc:Choice>
        <mc:Fallback xmlns="">
          <p:sp>
            <p:nvSpPr>
              <p:cNvPr id="3" name="Content Placeholder 2">
                <a:extLst>
                  <a:ext uri="{FF2B5EF4-FFF2-40B4-BE49-F238E27FC236}">
                    <a16:creationId xmlns:a16="http://schemas.microsoft.com/office/drawing/2014/main" id="{4AEE0067-D2B3-6C49-310C-6059382C1643}"/>
                  </a:ext>
                </a:extLst>
              </p:cNvPr>
              <p:cNvSpPr>
                <a:spLocks noGrp="1" noRot="1" noChangeAspect="1" noMove="1" noResize="1" noEditPoints="1" noAdjustHandles="1" noChangeArrowheads="1" noChangeShapeType="1" noTextEdit="1"/>
              </p:cNvSpPr>
              <p:nvPr>
                <p:ph idx="1"/>
              </p:nvPr>
            </p:nvSpPr>
            <p:spPr>
              <a:xfrm>
                <a:off x="1371600" y="1938866"/>
                <a:ext cx="9601200" cy="3903134"/>
              </a:xfrm>
              <a:blipFill>
                <a:blip r:embed="rId2"/>
                <a:stretch>
                  <a:fillRect l="-571" t="-2813" b="-625"/>
                </a:stretch>
              </a:blipFill>
            </p:spPr>
            <p:txBody>
              <a:bodyPr/>
              <a:lstStyle/>
              <a:p>
                <a:r>
                  <a:rPr lang="en-IN">
                    <a:noFill/>
                  </a:rPr>
                  <a:t> </a:t>
                </a:r>
              </a:p>
            </p:txBody>
          </p:sp>
        </mc:Fallback>
      </mc:AlternateContent>
    </p:spTree>
    <p:extLst>
      <p:ext uri="{BB962C8B-B14F-4D97-AF65-F5344CB8AC3E}">
        <p14:creationId xmlns:p14="http://schemas.microsoft.com/office/powerpoint/2010/main" val="3877121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721E-C925-3ED6-B0FE-3512C312706C}"/>
              </a:ext>
            </a:extLst>
          </p:cNvPr>
          <p:cNvSpPr>
            <a:spLocks noGrp="1"/>
          </p:cNvSpPr>
          <p:nvPr>
            <p:ph type="title"/>
          </p:nvPr>
        </p:nvSpPr>
        <p:spPr>
          <a:xfrm>
            <a:off x="1371600" y="685800"/>
            <a:ext cx="3920067" cy="533400"/>
          </a:xfrm>
        </p:spPr>
        <p:txBody>
          <a:bodyPr>
            <a:normAutofit fontScale="90000"/>
          </a:bodyPr>
          <a:lstStyle/>
          <a:p>
            <a:endParaRPr lang="en-IN" dirty="0"/>
          </a:p>
        </p:txBody>
      </p:sp>
      <p:pic>
        <p:nvPicPr>
          <p:cNvPr id="5" name="Content Placeholder 4">
            <a:extLst>
              <a:ext uri="{FF2B5EF4-FFF2-40B4-BE49-F238E27FC236}">
                <a16:creationId xmlns:a16="http://schemas.microsoft.com/office/drawing/2014/main" id="{A39A5657-468E-700F-0452-AE03A6412743}"/>
              </a:ext>
            </a:extLst>
          </p:cNvPr>
          <p:cNvPicPr>
            <a:picLocks noGrp="1" noChangeAspect="1"/>
          </p:cNvPicPr>
          <p:nvPr>
            <p:ph idx="1"/>
          </p:nvPr>
        </p:nvPicPr>
        <p:blipFill>
          <a:blip r:embed="rId2"/>
          <a:stretch>
            <a:fillRect/>
          </a:stretch>
        </p:blipFill>
        <p:spPr>
          <a:xfrm>
            <a:off x="838199" y="279401"/>
            <a:ext cx="6364509" cy="3344332"/>
          </a:xfrm>
          <a:prstGeom prst="rect">
            <a:avLst/>
          </a:prstGeom>
        </p:spPr>
      </p:pic>
      <p:pic>
        <p:nvPicPr>
          <p:cNvPr id="7" name="Picture 6">
            <a:extLst>
              <a:ext uri="{FF2B5EF4-FFF2-40B4-BE49-F238E27FC236}">
                <a16:creationId xmlns:a16="http://schemas.microsoft.com/office/drawing/2014/main" id="{B2C84B1D-1216-37A4-5266-A86EC21268D6}"/>
              </a:ext>
            </a:extLst>
          </p:cNvPr>
          <p:cNvPicPr>
            <a:picLocks noChangeAspect="1"/>
          </p:cNvPicPr>
          <p:nvPr/>
        </p:nvPicPr>
        <p:blipFill>
          <a:blip r:embed="rId3"/>
          <a:stretch>
            <a:fillRect/>
          </a:stretch>
        </p:blipFill>
        <p:spPr>
          <a:xfrm>
            <a:off x="6595533" y="3716866"/>
            <a:ext cx="5300133" cy="2861733"/>
          </a:xfrm>
          <a:prstGeom prst="rect">
            <a:avLst/>
          </a:prstGeom>
        </p:spPr>
      </p:pic>
    </p:spTree>
    <p:extLst>
      <p:ext uri="{BB962C8B-B14F-4D97-AF65-F5344CB8AC3E}">
        <p14:creationId xmlns:p14="http://schemas.microsoft.com/office/powerpoint/2010/main" val="2209180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586D1-741D-76B6-74E2-2C3C1257909A}"/>
              </a:ext>
            </a:extLst>
          </p:cNvPr>
          <p:cNvSpPr>
            <a:spLocks noGrp="1"/>
          </p:cNvSpPr>
          <p:nvPr>
            <p:ph type="title"/>
          </p:nvPr>
        </p:nvSpPr>
        <p:spPr/>
        <p:txBody>
          <a:bodyPr/>
          <a:lstStyle/>
          <a:p>
            <a:r>
              <a:rPr lang="en-US" dirty="0"/>
              <a:t>Elements and Cardinality</a:t>
            </a:r>
            <a:endParaRPr lang="en-IN" dirty="0"/>
          </a:p>
        </p:txBody>
      </p:sp>
      <p:sp>
        <p:nvSpPr>
          <p:cNvPr id="3" name="Content Placeholder 2">
            <a:extLst>
              <a:ext uri="{FF2B5EF4-FFF2-40B4-BE49-F238E27FC236}">
                <a16:creationId xmlns:a16="http://schemas.microsoft.com/office/drawing/2014/main" id="{A80D5112-5216-C8B5-2420-F4234304B0E3}"/>
              </a:ext>
            </a:extLst>
          </p:cNvPr>
          <p:cNvSpPr>
            <a:spLocks noGrp="1"/>
          </p:cNvSpPr>
          <p:nvPr>
            <p:ph idx="1"/>
          </p:nvPr>
        </p:nvSpPr>
        <p:spPr/>
        <p:txBody>
          <a:bodyPr/>
          <a:lstStyle/>
          <a:p>
            <a:r>
              <a:rPr lang="en-US" dirty="0"/>
              <a:t>Let T = {yellow, red, green}</a:t>
            </a:r>
          </a:p>
          <a:p>
            <a:pPr marL="0" indent="0">
              <a:buNone/>
            </a:pPr>
            <a:r>
              <a:rPr lang="en-US" dirty="0"/>
              <a:t>	“</a:t>
            </a:r>
            <a:r>
              <a:rPr lang="en-US" dirty="0">
                <a:highlight>
                  <a:srgbClr val="FFFF00"/>
                </a:highlight>
              </a:rPr>
              <a:t>yellow</a:t>
            </a:r>
            <a:r>
              <a:rPr lang="en-US" dirty="0"/>
              <a:t> is an element of T”</a:t>
            </a:r>
          </a:p>
          <a:p>
            <a:pPr marL="0" indent="0">
              <a:buNone/>
            </a:pPr>
            <a:r>
              <a:rPr lang="en-US" dirty="0"/>
              <a:t>	“</a:t>
            </a:r>
            <a:r>
              <a:rPr lang="en-US" dirty="0">
                <a:highlight>
                  <a:srgbClr val="0000FF"/>
                </a:highlight>
              </a:rPr>
              <a:t>blue</a:t>
            </a:r>
            <a:r>
              <a:rPr lang="en-US" dirty="0"/>
              <a:t> is not an element of T”</a:t>
            </a:r>
          </a:p>
          <a:p>
            <a:endParaRPr lang="en-US" dirty="0"/>
          </a:p>
          <a:p>
            <a:r>
              <a:rPr lang="en-US" dirty="0"/>
              <a:t>The cardinality(size) of T is 3.</a:t>
            </a:r>
          </a:p>
          <a:p>
            <a:pPr marL="0" indent="0">
              <a:buNone/>
            </a:pPr>
            <a:r>
              <a:rPr lang="en-US" dirty="0"/>
              <a:t>	</a:t>
            </a:r>
          </a:p>
          <a:p>
            <a:pPr marL="0" indent="0">
              <a:buNone/>
            </a:pPr>
            <a:endParaRPr lang="en-IN" dirty="0"/>
          </a:p>
        </p:txBody>
      </p:sp>
    </p:spTree>
    <p:extLst>
      <p:ext uri="{BB962C8B-B14F-4D97-AF65-F5344CB8AC3E}">
        <p14:creationId xmlns:p14="http://schemas.microsoft.com/office/powerpoint/2010/main" val="63510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EA624-BC7D-90B9-55D7-8937C66725F6}"/>
              </a:ext>
            </a:extLst>
          </p:cNvPr>
          <p:cNvSpPr>
            <a:spLocks noGrp="1"/>
          </p:cNvSpPr>
          <p:nvPr>
            <p:ph type="title"/>
          </p:nvPr>
        </p:nvSpPr>
        <p:spPr/>
        <p:txBody>
          <a:bodyPr/>
          <a:lstStyle/>
          <a:p>
            <a:r>
              <a:rPr lang="en-US" dirty="0"/>
              <a:t>Types of set</a:t>
            </a:r>
            <a:endParaRPr lang="en-IN" dirty="0"/>
          </a:p>
        </p:txBody>
      </p:sp>
      <p:pic>
        <p:nvPicPr>
          <p:cNvPr id="5" name="Content Placeholder 4">
            <a:extLst>
              <a:ext uri="{FF2B5EF4-FFF2-40B4-BE49-F238E27FC236}">
                <a16:creationId xmlns:a16="http://schemas.microsoft.com/office/drawing/2014/main" id="{2D47920F-69E4-1697-3A28-E61C0C3A78C1}"/>
              </a:ext>
            </a:extLst>
          </p:cNvPr>
          <p:cNvPicPr>
            <a:picLocks noGrp="1" noChangeAspect="1"/>
          </p:cNvPicPr>
          <p:nvPr>
            <p:ph idx="1"/>
          </p:nvPr>
        </p:nvPicPr>
        <p:blipFill>
          <a:blip r:embed="rId2"/>
          <a:stretch>
            <a:fillRect/>
          </a:stretch>
        </p:blipFill>
        <p:spPr>
          <a:xfrm>
            <a:off x="2429933" y="2057399"/>
            <a:ext cx="7340600" cy="3894667"/>
          </a:xfrm>
          <a:prstGeom prst="rect">
            <a:avLst/>
          </a:prstGeom>
        </p:spPr>
      </p:pic>
    </p:spTree>
    <p:extLst>
      <p:ext uri="{BB962C8B-B14F-4D97-AF65-F5344CB8AC3E}">
        <p14:creationId xmlns:p14="http://schemas.microsoft.com/office/powerpoint/2010/main" val="3760818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B04E1-5A27-D1FC-3E17-78819E63B3AC}"/>
              </a:ext>
            </a:extLst>
          </p:cNvPr>
          <p:cNvSpPr>
            <a:spLocks noGrp="1"/>
          </p:cNvSpPr>
          <p:nvPr>
            <p:ph type="title"/>
          </p:nvPr>
        </p:nvSpPr>
        <p:spPr/>
        <p:txBody>
          <a:bodyPr/>
          <a:lstStyle/>
          <a:p>
            <a:r>
              <a:rPr lang="en-US" dirty="0"/>
              <a:t>Singleton set</a:t>
            </a:r>
            <a:endParaRPr lang="en-IN" dirty="0"/>
          </a:p>
        </p:txBody>
      </p:sp>
      <p:sp>
        <p:nvSpPr>
          <p:cNvPr id="3" name="Content Placeholder 2">
            <a:extLst>
              <a:ext uri="{FF2B5EF4-FFF2-40B4-BE49-F238E27FC236}">
                <a16:creationId xmlns:a16="http://schemas.microsoft.com/office/drawing/2014/main" id="{6FD1095B-9695-D203-E1EC-E3638AE65C27}"/>
              </a:ext>
            </a:extLst>
          </p:cNvPr>
          <p:cNvSpPr>
            <a:spLocks noGrp="1"/>
          </p:cNvSpPr>
          <p:nvPr>
            <p:ph idx="1"/>
          </p:nvPr>
        </p:nvSpPr>
        <p:spPr/>
        <p:txBody>
          <a:bodyPr/>
          <a:lstStyle/>
          <a:p>
            <a:r>
              <a:rPr lang="en-IN" dirty="0"/>
              <a:t>A set is referred to as a singleton set when the number of elements in the set is one. </a:t>
            </a:r>
          </a:p>
          <a:p>
            <a:r>
              <a:rPr lang="en-IN" dirty="0"/>
              <a:t>The set of the form S = {a} is called a singleton set</a:t>
            </a:r>
          </a:p>
          <a:p>
            <a:r>
              <a:rPr lang="en-IN" dirty="0"/>
              <a:t> The singleton sets are always finite as it has only 1 element.</a:t>
            </a:r>
          </a:p>
          <a:p>
            <a:r>
              <a:rPr lang="en-IN" dirty="0"/>
              <a:t>Examples :</a:t>
            </a:r>
          </a:p>
          <a:p>
            <a:pPr marL="0" lvl="0" indent="0" fontAlgn="base">
              <a:buNone/>
            </a:pPr>
            <a:r>
              <a:rPr lang="en-IN" dirty="0"/>
              <a:t>	Set of even prime numbers</a:t>
            </a:r>
          </a:p>
          <a:p>
            <a:pPr marL="0" lvl="0" indent="0" fontAlgn="base">
              <a:buNone/>
            </a:pPr>
            <a:r>
              <a:rPr lang="en-IN" dirty="0"/>
              <a:t>	Set B = {10}</a:t>
            </a:r>
          </a:p>
          <a:p>
            <a:pPr marL="0" lvl="0" indent="0" fontAlgn="base">
              <a:buNone/>
            </a:pPr>
            <a:r>
              <a:rPr lang="en-IN" dirty="0"/>
              <a:t>	Set Q = {|x|: x</a:t>
            </a:r>
            <a:r>
              <a:rPr lang="en-IN" sz="1400" baseline="30000" dirty="0"/>
              <a:t>2</a:t>
            </a:r>
            <a:r>
              <a:rPr lang="en-IN" dirty="0"/>
              <a:t> = 16}</a:t>
            </a:r>
          </a:p>
          <a:p>
            <a:pPr lvl="1"/>
            <a:endParaRPr lang="en-IN" dirty="0"/>
          </a:p>
        </p:txBody>
      </p:sp>
    </p:spTree>
    <p:extLst>
      <p:ext uri="{BB962C8B-B14F-4D97-AF65-F5344CB8AC3E}">
        <p14:creationId xmlns:p14="http://schemas.microsoft.com/office/powerpoint/2010/main" val="3073883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57B73-F651-8752-51D7-30EF08861963}"/>
              </a:ext>
            </a:extLst>
          </p:cNvPr>
          <p:cNvSpPr>
            <a:spLocks noGrp="1"/>
          </p:cNvSpPr>
          <p:nvPr>
            <p:ph type="title"/>
          </p:nvPr>
        </p:nvSpPr>
        <p:spPr/>
        <p:txBody>
          <a:bodyPr/>
          <a:lstStyle/>
          <a:p>
            <a:r>
              <a:rPr lang="en-US" dirty="0"/>
              <a:t>Empty set</a:t>
            </a:r>
            <a:endParaRPr lang="en-IN" dirty="0"/>
          </a:p>
        </p:txBody>
      </p:sp>
      <p:sp>
        <p:nvSpPr>
          <p:cNvPr id="3" name="Content Placeholder 2">
            <a:extLst>
              <a:ext uri="{FF2B5EF4-FFF2-40B4-BE49-F238E27FC236}">
                <a16:creationId xmlns:a16="http://schemas.microsoft.com/office/drawing/2014/main" id="{8902DDFA-FF9C-6961-B83B-A84A1E975097}"/>
              </a:ext>
            </a:extLst>
          </p:cNvPr>
          <p:cNvSpPr>
            <a:spLocks noGrp="1"/>
          </p:cNvSpPr>
          <p:nvPr>
            <p:ph idx="1"/>
          </p:nvPr>
        </p:nvSpPr>
        <p:spPr/>
        <p:txBody>
          <a:bodyPr/>
          <a:lstStyle/>
          <a:p>
            <a:r>
              <a:rPr lang="en-IN" dirty="0"/>
              <a:t>The empty set, null set, or void set is a set that does not include any elements.</a:t>
            </a:r>
          </a:p>
          <a:p>
            <a:r>
              <a:rPr lang="en-IN" dirty="0"/>
              <a:t>The symbol (phi) Φ represents the empty set and is written as Φ = { }.</a:t>
            </a:r>
          </a:p>
          <a:p>
            <a:r>
              <a:rPr lang="en-IN" dirty="0"/>
              <a:t>Examples : </a:t>
            </a:r>
          </a:p>
          <a:p>
            <a:pPr lvl="1"/>
            <a:r>
              <a:rPr lang="en-IN" i="0" dirty="0"/>
              <a:t>Set A = {x: x is a prime number between 32 and 36}, as there are no prime</a:t>
            </a:r>
            <a:r>
              <a:rPr lang="en-IN" i="0" u="sng" dirty="0"/>
              <a:t> </a:t>
            </a:r>
            <a:r>
              <a:rPr lang="en-IN" i="0" dirty="0"/>
              <a:t>numbers between 32 and 36 set A is an empty set. Set A = Φ.</a:t>
            </a:r>
          </a:p>
          <a:p>
            <a:pPr lvl="1"/>
            <a:r>
              <a:rPr lang="en-IN" i="0" dirty="0"/>
              <a:t>Set B = {x: x are numbers greater than 6 while rolling a die}, there is no number greater than six in a die, so set B is an empty set. Set B = Φ.</a:t>
            </a:r>
          </a:p>
          <a:p>
            <a:pPr marL="530352" lvl="1" indent="0">
              <a:buNone/>
            </a:pPr>
            <a:endParaRPr lang="en-IN" dirty="0"/>
          </a:p>
        </p:txBody>
      </p:sp>
    </p:spTree>
    <p:extLst>
      <p:ext uri="{BB962C8B-B14F-4D97-AF65-F5344CB8AC3E}">
        <p14:creationId xmlns:p14="http://schemas.microsoft.com/office/powerpoint/2010/main" val="3620901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46486-6C53-F4E5-B488-A99DD72600BA}"/>
              </a:ext>
            </a:extLst>
          </p:cNvPr>
          <p:cNvSpPr>
            <a:spLocks noGrp="1"/>
          </p:cNvSpPr>
          <p:nvPr>
            <p:ph type="title"/>
          </p:nvPr>
        </p:nvSpPr>
        <p:spPr/>
        <p:txBody>
          <a:bodyPr/>
          <a:lstStyle/>
          <a:p>
            <a:r>
              <a:rPr lang="en-US" dirty="0"/>
              <a:t>Finite set</a:t>
            </a:r>
            <a:endParaRPr lang="en-IN" dirty="0"/>
          </a:p>
        </p:txBody>
      </p:sp>
      <p:sp>
        <p:nvSpPr>
          <p:cNvPr id="3" name="Content Placeholder 2">
            <a:extLst>
              <a:ext uri="{FF2B5EF4-FFF2-40B4-BE49-F238E27FC236}">
                <a16:creationId xmlns:a16="http://schemas.microsoft.com/office/drawing/2014/main" id="{E1E5E825-8381-40AC-CC3A-AB6605970CAA}"/>
              </a:ext>
            </a:extLst>
          </p:cNvPr>
          <p:cNvSpPr>
            <a:spLocks noGrp="1"/>
          </p:cNvSpPr>
          <p:nvPr>
            <p:ph idx="1"/>
          </p:nvPr>
        </p:nvSpPr>
        <p:spPr/>
        <p:txBody>
          <a:bodyPr/>
          <a:lstStyle/>
          <a:p>
            <a:r>
              <a:rPr lang="en-IN" dirty="0"/>
              <a:t>A finite set is a set that has a countable number of elements.</a:t>
            </a:r>
          </a:p>
          <a:p>
            <a:r>
              <a:rPr lang="en-IN" dirty="0"/>
              <a:t>In other words, you can count how many elements it has, and the counting ends.</a:t>
            </a:r>
          </a:p>
          <a:p>
            <a:pPr lvl="0" fontAlgn="base"/>
            <a:r>
              <a:rPr lang="en-IN" dirty="0"/>
              <a:t>The empty set is also finite (with 0 elements).</a:t>
            </a:r>
          </a:p>
          <a:p>
            <a:pPr lvl="0" fontAlgn="base"/>
            <a:r>
              <a:rPr lang="en-IN" dirty="0"/>
              <a:t>All singleton sets are finite.</a:t>
            </a:r>
          </a:p>
          <a:p>
            <a:r>
              <a:rPr lang="en-IN" dirty="0"/>
              <a:t>Examples :</a:t>
            </a:r>
          </a:p>
          <a:p>
            <a:pPr lvl="1"/>
            <a:r>
              <a:rPr lang="en-IN" dirty="0"/>
              <a:t>A = {1, 2, 3, 4} → Finite (4 elements)</a:t>
            </a:r>
          </a:p>
          <a:p>
            <a:pPr lvl="1"/>
            <a:r>
              <a:rPr lang="en-IN" dirty="0"/>
              <a:t>B = {"apple", "banana"} → Finite (2 elements)</a:t>
            </a:r>
          </a:p>
        </p:txBody>
      </p:sp>
    </p:spTree>
    <p:extLst>
      <p:ext uri="{BB962C8B-B14F-4D97-AF65-F5344CB8AC3E}">
        <p14:creationId xmlns:p14="http://schemas.microsoft.com/office/powerpoint/2010/main" val="981667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76389-3AFC-14E6-4FAE-6D6CF133EFD5}"/>
              </a:ext>
            </a:extLst>
          </p:cNvPr>
          <p:cNvSpPr>
            <a:spLocks noGrp="1"/>
          </p:cNvSpPr>
          <p:nvPr>
            <p:ph type="title"/>
          </p:nvPr>
        </p:nvSpPr>
        <p:spPr/>
        <p:txBody>
          <a:bodyPr/>
          <a:lstStyle/>
          <a:p>
            <a:r>
              <a:rPr lang="en-US" dirty="0"/>
              <a:t>Infinite set</a:t>
            </a:r>
            <a:endParaRPr lang="en-IN" dirty="0"/>
          </a:p>
        </p:txBody>
      </p:sp>
      <p:sp>
        <p:nvSpPr>
          <p:cNvPr id="3" name="Content Placeholder 2">
            <a:extLst>
              <a:ext uri="{FF2B5EF4-FFF2-40B4-BE49-F238E27FC236}">
                <a16:creationId xmlns:a16="http://schemas.microsoft.com/office/drawing/2014/main" id="{50ACA00C-BE92-E4C4-C1E8-E65658A73B66}"/>
              </a:ext>
            </a:extLst>
          </p:cNvPr>
          <p:cNvSpPr>
            <a:spLocks noGrp="1"/>
          </p:cNvSpPr>
          <p:nvPr>
            <p:ph idx="1"/>
          </p:nvPr>
        </p:nvSpPr>
        <p:spPr/>
        <p:txBody>
          <a:bodyPr/>
          <a:lstStyle/>
          <a:p>
            <a:r>
              <a:rPr lang="en-IN" dirty="0"/>
              <a:t>Infinite Sets are those that have an infinite number of elements present, cases in which the number of elements is hard to determine are known as infinite sets.</a:t>
            </a:r>
          </a:p>
          <a:p>
            <a:r>
              <a:rPr lang="en-IN" dirty="0"/>
              <a:t>Examples :</a:t>
            </a:r>
          </a:p>
          <a:p>
            <a:pPr lvl="1"/>
            <a:r>
              <a:rPr lang="en-IN" dirty="0"/>
              <a:t>A = {1, 2, 3, 4, 5, 6, ...} → Infinite</a:t>
            </a:r>
          </a:p>
          <a:p>
            <a:pPr lvl="1"/>
            <a:r>
              <a:rPr lang="en-IN" dirty="0"/>
              <a:t>B = Set of all stars in the sky → Infinite</a:t>
            </a:r>
          </a:p>
          <a:p>
            <a:pPr lvl="1"/>
            <a:r>
              <a:rPr lang="en-IN" dirty="0"/>
              <a:t>C = Set of all natural numbers → Infinite</a:t>
            </a:r>
          </a:p>
          <a:p>
            <a:pPr marL="530352" lvl="1" indent="0">
              <a:buNone/>
            </a:pPr>
            <a:endParaRPr lang="en-IN" dirty="0"/>
          </a:p>
        </p:txBody>
      </p:sp>
    </p:spTree>
    <p:extLst>
      <p:ext uri="{BB962C8B-B14F-4D97-AF65-F5344CB8AC3E}">
        <p14:creationId xmlns:p14="http://schemas.microsoft.com/office/powerpoint/2010/main" val="477514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FB432-C189-E77D-BBD3-27A0F6F161A8}"/>
              </a:ext>
            </a:extLst>
          </p:cNvPr>
          <p:cNvSpPr>
            <a:spLocks noGrp="1"/>
          </p:cNvSpPr>
          <p:nvPr>
            <p:ph type="title"/>
          </p:nvPr>
        </p:nvSpPr>
        <p:spPr/>
        <p:txBody>
          <a:bodyPr/>
          <a:lstStyle/>
          <a:p>
            <a:r>
              <a:rPr lang="en-US" dirty="0"/>
              <a:t>Equal set</a:t>
            </a:r>
            <a:endParaRPr lang="en-IN" dirty="0"/>
          </a:p>
        </p:txBody>
      </p:sp>
      <p:sp>
        <p:nvSpPr>
          <p:cNvPr id="3" name="Content Placeholder 2">
            <a:extLst>
              <a:ext uri="{FF2B5EF4-FFF2-40B4-BE49-F238E27FC236}">
                <a16:creationId xmlns:a16="http://schemas.microsoft.com/office/drawing/2014/main" id="{CF482144-C67D-0CEC-02AE-073B7F76A996}"/>
              </a:ext>
            </a:extLst>
          </p:cNvPr>
          <p:cNvSpPr>
            <a:spLocks noGrp="1"/>
          </p:cNvSpPr>
          <p:nvPr>
            <p:ph idx="1"/>
          </p:nvPr>
        </p:nvSpPr>
        <p:spPr/>
        <p:txBody>
          <a:bodyPr>
            <a:normAutofit fontScale="92500" lnSpcReduction="20000"/>
          </a:bodyPr>
          <a:lstStyle/>
          <a:p>
            <a:r>
              <a:rPr lang="en-IN" dirty="0"/>
              <a:t>Two sets having the same elements and an equal number of elements are called equal sets. The elements in the set may be rearranged, or they may be repeated, but they will still be equal sets.</a:t>
            </a:r>
          </a:p>
          <a:p>
            <a:pPr lvl="0" fontAlgn="base"/>
            <a:r>
              <a:rPr lang="en-IN" dirty="0"/>
              <a:t>Two sets are equal if every element of one set is also in the other set.</a:t>
            </a:r>
          </a:p>
          <a:p>
            <a:pPr lvl="0" fontAlgn="base"/>
            <a:r>
              <a:rPr lang="en-IN" dirty="0"/>
              <a:t>The order of the</a:t>
            </a:r>
            <a:r>
              <a:rPr lang="en-IN" b="1" dirty="0"/>
              <a:t> </a:t>
            </a:r>
            <a:r>
              <a:rPr lang="en-IN" dirty="0"/>
              <a:t>elements doesn't matter.</a:t>
            </a:r>
          </a:p>
          <a:p>
            <a:r>
              <a:rPr lang="en-IN" dirty="0"/>
              <a:t>Equal sets have the same number of elements (same cardinality).</a:t>
            </a:r>
          </a:p>
          <a:p>
            <a:r>
              <a:rPr lang="en-IN" dirty="0"/>
              <a:t>Examples :</a:t>
            </a:r>
          </a:p>
          <a:p>
            <a:pPr marL="0" lvl="0" indent="0" fontAlgn="base">
              <a:buNone/>
            </a:pPr>
            <a:r>
              <a:rPr lang="en-IN" dirty="0"/>
              <a:t>	</a:t>
            </a:r>
            <a:r>
              <a:rPr lang="en-IN" i="1" dirty="0"/>
              <a:t>Set A = {1, 2, 6, 5}</a:t>
            </a:r>
          </a:p>
          <a:p>
            <a:pPr marL="0" lvl="0" indent="0" fontAlgn="base">
              <a:buNone/>
            </a:pPr>
            <a:r>
              <a:rPr lang="en-IN" i="1" dirty="0"/>
              <a:t>	Set B = {2, 1, 5, 6}</a:t>
            </a:r>
          </a:p>
          <a:p>
            <a:pPr marL="0" indent="0" fontAlgn="base">
              <a:buNone/>
            </a:pPr>
            <a:r>
              <a:rPr lang="en-IN" i="1" dirty="0"/>
              <a:t>	In the above example, the elements are 1, 2, 5, 6. Therefore, A= B.</a:t>
            </a:r>
          </a:p>
          <a:p>
            <a:pPr marL="0" indent="0">
              <a:buNone/>
            </a:pPr>
            <a:endParaRPr lang="en-IN" dirty="0"/>
          </a:p>
          <a:p>
            <a:endParaRPr lang="en-IN" dirty="0"/>
          </a:p>
        </p:txBody>
      </p:sp>
    </p:spTree>
    <p:extLst>
      <p:ext uri="{BB962C8B-B14F-4D97-AF65-F5344CB8AC3E}">
        <p14:creationId xmlns:p14="http://schemas.microsoft.com/office/powerpoint/2010/main" val="2991769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D315F-7840-ACC6-9A03-A78F7F547B2C}"/>
              </a:ext>
            </a:extLst>
          </p:cNvPr>
          <p:cNvSpPr>
            <a:spLocks noGrp="1"/>
          </p:cNvSpPr>
          <p:nvPr>
            <p:ph type="title"/>
          </p:nvPr>
        </p:nvSpPr>
        <p:spPr/>
        <p:txBody>
          <a:bodyPr/>
          <a:lstStyle/>
          <a:p>
            <a:r>
              <a:rPr lang="en-IN" dirty="0"/>
              <a:t>Equivalent Set</a:t>
            </a:r>
          </a:p>
        </p:txBody>
      </p:sp>
      <p:sp>
        <p:nvSpPr>
          <p:cNvPr id="3" name="Content Placeholder 2">
            <a:extLst>
              <a:ext uri="{FF2B5EF4-FFF2-40B4-BE49-F238E27FC236}">
                <a16:creationId xmlns:a16="http://schemas.microsoft.com/office/drawing/2014/main" id="{A1E93D67-87EF-ACF7-DD53-9F5442B13266}"/>
              </a:ext>
            </a:extLst>
          </p:cNvPr>
          <p:cNvSpPr>
            <a:spLocks noGrp="1"/>
          </p:cNvSpPr>
          <p:nvPr>
            <p:ph idx="1"/>
          </p:nvPr>
        </p:nvSpPr>
        <p:spPr>
          <a:xfrm>
            <a:off x="1371600" y="1261533"/>
            <a:ext cx="9601200" cy="5596467"/>
          </a:xfrm>
        </p:spPr>
        <p:txBody>
          <a:bodyPr>
            <a:normAutofit/>
          </a:bodyPr>
          <a:lstStyle/>
          <a:p>
            <a:pPr marL="0" indent="0" fontAlgn="base">
              <a:buNone/>
            </a:pPr>
            <a:endParaRPr lang="en-IN" b="1" dirty="0"/>
          </a:p>
          <a:p>
            <a:pPr fontAlgn="base"/>
            <a:r>
              <a:rPr lang="en-IN" dirty="0"/>
              <a:t>Equivalent Sets are those which have the same number of elements present in them. It is important to note that the elements may be different in both sets but the number of elements present is equal. For Instance, if a set has 6 elements in it, and the other set also has 6 elements present, they are equivalent sets.</a:t>
            </a:r>
          </a:p>
          <a:p>
            <a:pPr lvl="0" fontAlgn="base"/>
            <a:r>
              <a:rPr lang="en-IN" dirty="0"/>
              <a:t>Equivalent sets have the same number of elements.</a:t>
            </a:r>
          </a:p>
          <a:p>
            <a:pPr lvl="0" fontAlgn="base"/>
            <a:r>
              <a:rPr lang="en-IN" dirty="0"/>
              <a:t>The elements can be different; it only the count matters.</a:t>
            </a:r>
          </a:p>
          <a:p>
            <a:pPr lvl="0" fontAlgn="base"/>
            <a:r>
              <a:rPr lang="en-IN" dirty="0"/>
              <a:t>If two sets A and B are equivalent, we write: A ≈ B</a:t>
            </a:r>
          </a:p>
          <a:p>
            <a:pPr lvl="0" fontAlgn="base"/>
            <a:r>
              <a:rPr lang="en-IN" dirty="0"/>
              <a:t>All equal sets are equivalent, but not all equivalent sets are equal.</a:t>
            </a:r>
          </a:p>
          <a:p>
            <a:pPr lvl="0" fontAlgn="base"/>
            <a:r>
              <a:rPr lang="en-IN" dirty="0"/>
              <a:t>Examples :</a:t>
            </a:r>
          </a:p>
          <a:p>
            <a:pPr marL="0" lvl="0" indent="0" fontAlgn="base">
              <a:buNone/>
            </a:pPr>
            <a:r>
              <a:rPr lang="en-IN" dirty="0"/>
              <a:t>	</a:t>
            </a:r>
            <a:r>
              <a:rPr lang="en-IN" i="1" dirty="0"/>
              <a:t>Set A= {2, 3, 5, 7, 11}</a:t>
            </a:r>
          </a:p>
          <a:p>
            <a:pPr marL="0" lvl="0" indent="0" fontAlgn="base">
              <a:buNone/>
            </a:pPr>
            <a:r>
              <a:rPr lang="en-IN" i="1" dirty="0"/>
              <a:t>	Set B = {p, q, r, s, t}</a:t>
            </a:r>
          </a:p>
          <a:p>
            <a:pPr marL="0" lvl="0" indent="0" fontAlgn="base">
              <a:buNone/>
            </a:pPr>
            <a:r>
              <a:rPr lang="en-IN" i="1" dirty="0"/>
              <a:t>	Set A and Set B both have 5 elements hence, both are equivalent sets.</a:t>
            </a:r>
          </a:p>
          <a:p>
            <a:pPr marL="0" lvl="0" indent="0" fontAlgn="base">
              <a:buNone/>
            </a:pPr>
            <a:endParaRPr lang="en-IN" dirty="0"/>
          </a:p>
          <a:p>
            <a:pPr fontAlgn="base"/>
            <a:endParaRPr lang="en-IN" dirty="0"/>
          </a:p>
        </p:txBody>
      </p:sp>
    </p:spTree>
    <p:extLst>
      <p:ext uri="{BB962C8B-B14F-4D97-AF65-F5344CB8AC3E}">
        <p14:creationId xmlns:p14="http://schemas.microsoft.com/office/powerpoint/2010/main" val="2833567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3A2B8-EE9E-DE5C-3721-5BDCC5844A4D}"/>
              </a:ext>
            </a:extLst>
          </p:cNvPr>
          <p:cNvSpPr>
            <a:spLocks noGrp="1"/>
          </p:cNvSpPr>
          <p:nvPr>
            <p:ph type="title"/>
          </p:nvPr>
        </p:nvSpPr>
        <p:spPr/>
        <p:txBody>
          <a:bodyPr/>
          <a:lstStyle/>
          <a:p>
            <a:r>
              <a:rPr lang="en-IN" dirty="0"/>
              <a:t>Subset</a:t>
            </a:r>
          </a:p>
        </p:txBody>
      </p:sp>
      <p:sp>
        <p:nvSpPr>
          <p:cNvPr id="3" name="Content Placeholder 2">
            <a:extLst>
              <a:ext uri="{FF2B5EF4-FFF2-40B4-BE49-F238E27FC236}">
                <a16:creationId xmlns:a16="http://schemas.microsoft.com/office/drawing/2014/main" id="{6C082468-B818-FEA9-5C72-836713E59FF2}"/>
              </a:ext>
            </a:extLst>
          </p:cNvPr>
          <p:cNvSpPr>
            <a:spLocks noGrp="1"/>
          </p:cNvSpPr>
          <p:nvPr>
            <p:ph idx="1"/>
          </p:nvPr>
        </p:nvSpPr>
        <p:spPr>
          <a:xfrm>
            <a:off x="1295400" y="1557866"/>
            <a:ext cx="9601200" cy="5003801"/>
          </a:xfrm>
        </p:spPr>
        <p:txBody>
          <a:bodyPr>
            <a:normAutofit/>
          </a:bodyPr>
          <a:lstStyle/>
          <a:p>
            <a:r>
              <a:rPr lang="en-IN" dirty="0"/>
              <a:t>Set A will be called the Subset of Set B if all the elements present in Set A already belong to Set B. The symbol used for the subset is </a:t>
            </a:r>
            <a:r>
              <a:rPr lang="en-IN" b="1" dirty="0"/>
              <a:t>⊆.</a:t>
            </a:r>
            <a:br>
              <a:rPr lang="en-IN" dirty="0"/>
            </a:br>
            <a:r>
              <a:rPr lang="en-IN" dirty="0"/>
              <a:t>If A is a Subset of B, it will be written as A ⊆ B</a:t>
            </a:r>
          </a:p>
          <a:p>
            <a:pPr lvl="0" fontAlgn="base"/>
            <a:r>
              <a:rPr lang="en-IN" dirty="0"/>
              <a:t>A ⊆ A (Every set is a subset of itself)</a:t>
            </a:r>
          </a:p>
          <a:p>
            <a:pPr lvl="0" fontAlgn="base"/>
            <a:r>
              <a:rPr lang="en-IN" dirty="0"/>
              <a:t>∅ ⊆ A (Empty set is a subset of every set)</a:t>
            </a:r>
          </a:p>
          <a:p>
            <a:pPr lvl="0" fontAlgn="base"/>
            <a:r>
              <a:rPr lang="en-IN" dirty="0"/>
              <a:t>If A ⊆ B and B ⊆ C, then A ⊆ C (transitive property)</a:t>
            </a:r>
          </a:p>
          <a:p>
            <a:pPr lvl="0" fontAlgn="base"/>
            <a:r>
              <a:rPr lang="en-IN" dirty="0"/>
              <a:t>A set with n elements has 2ⁿ subsets (including ∅ </a:t>
            </a:r>
            <a:r>
              <a:rPr lang="en-IN" b="1" dirty="0"/>
              <a:t>the </a:t>
            </a:r>
            <a:r>
              <a:rPr lang="en-IN" dirty="0"/>
              <a:t>set itself)</a:t>
            </a:r>
          </a:p>
          <a:p>
            <a:r>
              <a:rPr lang="en-IN" dirty="0"/>
              <a:t>Example :</a:t>
            </a:r>
          </a:p>
          <a:p>
            <a:pPr marL="0" lvl="0" indent="0" fontAlgn="base">
              <a:buNone/>
            </a:pPr>
            <a:r>
              <a:rPr lang="en-IN" i="1" dirty="0"/>
              <a:t>	Set A= {33, 66, 99}</a:t>
            </a:r>
          </a:p>
          <a:p>
            <a:pPr marL="0" lvl="0" indent="0" fontAlgn="base">
              <a:buNone/>
            </a:pPr>
            <a:r>
              <a:rPr lang="en-IN" i="1" dirty="0"/>
              <a:t>	Set B = {22, 11, 33, 99, 66}</a:t>
            </a:r>
          </a:p>
          <a:p>
            <a:pPr marL="0" indent="0" fontAlgn="base">
              <a:buNone/>
            </a:pPr>
            <a:r>
              <a:rPr lang="en-IN" i="1" dirty="0"/>
              <a:t>	Then, Set A ⊆ Set B </a:t>
            </a:r>
          </a:p>
          <a:p>
            <a:pPr marL="0" indent="0">
              <a:buNone/>
            </a:pPr>
            <a:endParaRPr lang="en-IN" dirty="0"/>
          </a:p>
        </p:txBody>
      </p:sp>
    </p:spTree>
    <p:extLst>
      <p:ext uri="{BB962C8B-B14F-4D97-AF65-F5344CB8AC3E}">
        <p14:creationId xmlns:p14="http://schemas.microsoft.com/office/powerpoint/2010/main" val="2502455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664A0-23AA-9E16-D32C-1912CEDF9F95}"/>
              </a:ext>
            </a:extLst>
          </p:cNvPr>
          <p:cNvSpPr>
            <a:spLocks noGrp="1"/>
          </p:cNvSpPr>
          <p:nvPr>
            <p:ph type="title"/>
          </p:nvPr>
        </p:nvSpPr>
        <p:spPr/>
        <p:txBody>
          <a:bodyPr/>
          <a:lstStyle/>
          <a:p>
            <a:r>
              <a:rPr lang="en-IN" dirty="0"/>
              <a:t>Proper Subset</a:t>
            </a:r>
          </a:p>
        </p:txBody>
      </p:sp>
      <p:sp>
        <p:nvSpPr>
          <p:cNvPr id="3" name="Content Placeholder 2">
            <a:extLst>
              <a:ext uri="{FF2B5EF4-FFF2-40B4-BE49-F238E27FC236}">
                <a16:creationId xmlns:a16="http://schemas.microsoft.com/office/drawing/2014/main" id="{716B8225-852E-2DDB-C345-88C14494A685}"/>
              </a:ext>
            </a:extLst>
          </p:cNvPr>
          <p:cNvSpPr>
            <a:spLocks noGrp="1"/>
          </p:cNvSpPr>
          <p:nvPr>
            <p:ph idx="1"/>
          </p:nvPr>
        </p:nvSpPr>
        <p:spPr>
          <a:xfrm>
            <a:off x="1371600" y="1777999"/>
            <a:ext cx="9601200" cy="4394201"/>
          </a:xfrm>
        </p:spPr>
        <p:txBody>
          <a:bodyPr>
            <a:normAutofit fontScale="92500" lnSpcReduction="10000"/>
          </a:bodyPr>
          <a:lstStyle/>
          <a:p>
            <a:r>
              <a:rPr lang="en-IN" dirty="0"/>
              <a:t>A proper set is a subset that contains some but not all elements of the original set. It is not equal to the original set. If A and B are sets, and A is a proper subset of B, we write: A ⊂ B</a:t>
            </a:r>
          </a:p>
          <a:p>
            <a:pPr lvl="0" fontAlgn="base"/>
            <a:r>
              <a:rPr lang="en-IN" dirty="0"/>
              <a:t>A proper subset has fewer elements than the original set.</a:t>
            </a:r>
          </a:p>
          <a:p>
            <a:pPr lvl="0" fontAlgn="base"/>
            <a:r>
              <a:rPr lang="en-IN" dirty="0"/>
              <a:t>Every proper subset is a subset, but not every subset is proper.</a:t>
            </a:r>
          </a:p>
          <a:p>
            <a:pPr lvl="0" fontAlgn="base"/>
            <a:r>
              <a:rPr lang="en-IN" dirty="0"/>
              <a:t>The empty set (∅) is a proper subset of any non-empty set.</a:t>
            </a:r>
          </a:p>
          <a:p>
            <a:pPr lvl="0" fontAlgn="base"/>
            <a:r>
              <a:rPr lang="en-IN" dirty="0"/>
              <a:t>The original set is not a proper subset of itself.</a:t>
            </a:r>
          </a:p>
          <a:p>
            <a:r>
              <a:rPr lang="en-IN" dirty="0"/>
              <a:t>Example :</a:t>
            </a:r>
          </a:p>
          <a:p>
            <a:pPr marL="0" indent="0" fontAlgn="base">
              <a:buNone/>
            </a:pPr>
            <a:r>
              <a:rPr lang="en-IN" i="1" dirty="0"/>
              <a:t>	Let </a:t>
            </a:r>
            <a:r>
              <a:rPr lang="en-IN" b="1" i="1" dirty="0"/>
              <a:t>B = {1, 2, 3}</a:t>
            </a:r>
            <a:endParaRPr lang="en-IN" i="1" dirty="0"/>
          </a:p>
          <a:p>
            <a:pPr marL="0" lvl="0" indent="0" fontAlgn="base">
              <a:buNone/>
            </a:pPr>
            <a:r>
              <a:rPr lang="en-IN" i="1" dirty="0"/>
              <a:t>	Proper subsets of B are:</a:t>
            </a:r>
            <a:br>
              <a:rPr lang="en-IN" i="1" dirty="0"/>
            </a:br>
            <a:r>
              <a:rPr lang="en-IN" i="1" dirty="0"/>
              <a:t>	</a:t>
            </a:r>
            <a:r>
              <a:rPr lang="en-IN" b="1" i="1" dirty="0"/>
              <a:t>∅, {1}, {2}, {3}, {1, 2}, {1, 3}, {2, 3}</a:t>
            </a:r>
            <a:endParaRPr lang="en-IN" i="1" dirty="0"/>
          </a:p>
          <a:p>
            <a:pPr marL="0" lvl="0" indent="0" fontAlgn="base">
              <a:buNone/>
            </a:pPr>
            <a:r>
              <a:rPr lang="en-IN" b="1" i="1" dirty="0"/>
              <a:t>	{1, 2, 3}</a:t>
            </a:r>
            <a:r>
              <a:rPr lang="en-IN" i="1" dirty="0"/>
              <a:t> is a subset of B, but </a:t>
            </a:r>
            <a:r>
              <a:rPr lang="en-IN" b="1" i="1" dirty="0"/>
              <a:t>not</a:t>
            </a:r>
            <a:r>
              <a:rPr lang="en-IN" i="1" dirty="0"/>
              <a:t> a proper subset, because it is equal to B.</a:t>
            </a:r>
          </a:p>
          <a:p>
            <a:pPr marL="0" indent="0">
              <a:buNone/>
            </a:pPr>
            <a:endParaRPr lang="en-IN" dirty="0"/>
          </a:p>
        </p:txBody>
      </p:sp>
    </p:spTree>
    <p:extLst>
      <p:ext uri="{BB962C8B-B14F-4D97-AF65-F5344CB8AC3E}">
        <p14:creationId xmlns:p14="http://schemas.microsoft.com/office/powerpoint/2010/main" val="509861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12F98-821F-B9B6-23EE-B4AEB36755B0}"/>
              </a:ext>
            </a:extLst>
          </p:cNvPr>
          <p:cNvSpPr>
            <a:spLocks noGrp="1"/>
          </p:cNvSpPr>
          <p:nvPr>
            <p:ph type="title"/>
          </p:nvPr>
        </p:nvSpPr>
        <p:spPr/>
        <p:txBody>
          <a:bodyPr/>
          <a:lstStyle/>
          <a:p>
            <a:r>
              <a:rPr lang="en-IN" dirty="0"/>
              <a:t>Power Set</a:t>
            </a:r>
          </a:p>
        </p:txBody>
      </p:sp>
      <p:sp>
        <p:nvSpPr>
          <p:cNvPr id="3" name="Content Placeholder 2">
            <a:extLst>
              <a:ext uri="{FF2B5EF4-FFF2-40B4-BE49-F238E27FC236}">
                <a16:creationId xmlns:a16="http://schemas.microsoft.com/office/drawing/2014/main" id="{C1AC66B3-24C3-6CFE-075C-04C7AEB210A0}"/>
              </a:ext>
            </a:extLst>
          </p:cNvPr>
          <p:cNvSpPr>
            <a:spLocks noGrp="1"/>
          </p:cNvSpPr>
          <p:nvPr>
            <p:ph idx="1"/>
          </p:nvPr>
        </p:nvSpPr>
        <p:spPr>
          <a:xfrm>
            <a:off x="1295400" y="1557867"/>
            <a:ext cx="9601200" cy="4986866"/>
          </a:xfrm>
        </p:spPr>
        <p:txBody>
          <a:bodyPr>
            <a:normAutofit fontScale="92500" lnSpcReduction="10000"/>
          </a:bodyPr>
          <a:lstStyle/>
          <a:p>
            <a:pPr fontAlgn="base"/>
            <a:r>
              <a:rPr lang="en-IN" dirty="0"/>
              <a:t>The Powerset of any set A is defined as the set containing all the subsets of set A. It is denoted by the symbol </a:t>
            </a:r>
            <a:r>
              <a:rPr lang="en-IN" b="1" dirty="0"/>
              <a:t>P(A) </a:t>
            </a:r>
            <a:r>
              <a:rPr lang="en-IN" dirty="0"/>
              <a:t>and read as the Power Set of A.</a:t>
            </a:r>
          </a:p>
          <a:p>
            <a:pPr fontAlgn="base"/>
            <a:r>
              <a:rPr lang="en-IN" dirty="0"/>
              <a:t>For any set A containing n elements, the total number of subsets formed is 2</a:t>
            </a:r>
            <a:r>
              <a:rPr lang="en-IN" baseline="30000" dirty="0"/>
              <a:t>n</a:t>
            </a:r>
            <a:r>
              <a:rPr lang="en-IN" dirty="0"/>
              <a:t>. Thus, the power set of A, P(A) has 2</a:t>
            </a:r>
            <a:r>
              <a:rPr lang="en-IN" baseline="30000" dirty="0"/>
              <a:t>n</a:t>
            </a:r>
            <a:r>
              <a:rPr lang="en-IN" dirty="0"/>
              <a:t> elements.</a:t>
            </a:r>
            <a:br>
              <a:rPr lang="en-IN" dirty="0"/>
            </a:br>
            <a:r>
              <a:rPr lang="en-IN" dirty="0"/>
              <a:t>It includes:</a:t>
            </a:r>
          </a:p>
          <a:p>
            <a:pPr lvl="0" fontAlgn="base"/>
            <a:r>
              <a:rPr lang="en-IN" b="1" dirty="0"/>
              <a:t>The empty set (∅)</a:t>
            </a:r>
            <a:endParaRPr lang="en-IN" dirty="0"/>
          </a:p>
          <a:p>
            <a:pPr lvl="0" fontAlgn="base"/>
            <a:r>
              <a:rPr lang="en-IN" b="1" dirty="0"/>
              <a:t>All individual elements as sets</a:t>
            </a:r>
            <a:endParaRPr lang="en-IN" dirty="0"/>
          </a:p>
          <a:p>
            <a:pPr lvl="0" fontAlgn="base"/>
            <a:r>
              <a:rPr lang="en-IN" b="1" dirty="0"/>
              <a:t>All combinations of elements</a:t>
            </a:r>
            <a:endParaRPr lang="en-IN" dirty="0"/>
          </a:p>
          <a:p>
            <a:pPr lvl="0" fontAlgn="base"/>
            <a:r>
              <a:rPr lang="en-IN" b="1" dirty="0"/>
              <a:t>The set itself</a:t>
            </a:r>
          </a:p>
          <a:p>
            <a:pPr lvl="0" fontAlgn="base"/>
            <a:r>
              <a:rPr lang="en-IN" b="1" dirty="0"/>
              <a:t>Examples :</a:t>
            </a:r>
          </a:p>
          <a:p>
            <a:pPr marL="0" indent="0" fontAlgn="base">
              <a:buNone/>
            </a:pPr>
            <a:r>
              <a:rPr lang="en-IN" b="1" dirty="0"/>
              <a:t>	</a:t>
            </a:r>
            <a:r>
              <a:rPr lang="en-IN" dirty="0"/>
              <a:t>For any set A = {</a:t>
            </a:r>
            <a:r>
              <a:rPr lang="en-IN" dirty="0" err="1"/>
              <a:t>a,b,c</a:t>
            </a:r>
            <a:r>
              <a:rPr lang="en-IN" dirty="0"/>
              <a:t>}</a:t>
            </a:r>
          </a:p>
          <a:p>
            <a:pPr marL="0" indent="0" fontAlgn="base">
              <a:buNone/>
            </a:pPr>
            <a:r>
              <a:rPr lang="en-IN" i="1" dirty="0"/>
              <a:t>	Power Set P(A) is,</a:t>
            </a:r>
          </a:p>
          <a:p>
            <a:pPr marL="0" indent="0" fontAlgn="base">
              <a:buNone/>
            </a:pPr>
            <a:r>
              <a:rPr lang="en-IN" i="1" dirty="0"/>
              <a:t>	P(A) = {ϕ, {a}, {b}, {c}, {a, b}, {b, c}, {c, a}, {a, b, c}}</a:t>
            </a:r>
          </a:p>
          <a:p>
            <a:pPr marL="0" lvl="0" indent="0" fontAlgn="base">
              <a:buNone/>
            </a:pPr>
            <a:endParaRPr lang="en-IN" dirty="0"/>
          </a:p>
          <a:p>
            <a:endParaRPr lang="en-IN" dirty="0"/>
          </a:p>
        </p:txBody>
      </p:sp>
    </p:spTree>
    <p:extLst>
      <p:ext uri="{BB962C8B-B14F-4D97-AF65-F5344CB8AC3E}">
        <p14:creationId xmlns:p14="http://schemas.microsoft.com/office/powerpoint/2010/main" val="3418554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6ED6C-E7DB-2A83-1731-F803E7462286}"/>
              </a:ext>
            </a:extLst>
          </p:cNvPr>
          <p:cNvSpPr>
            <a:spLocks noGrp="1"/>
          </p:cNvSpPr>
          <p:nvPr>
            <p:ph type="title"/>
          </p:nvPr>
        </p:nvSpPr>
        <p:spPr/>
        <p:txBody>
          <a:bodyPr/>
          <a:lstStyle/>
          <a:p>
            <a:r>
              <a:rPr lang="en-IN" dirty="0"/>
              <a:t>Properties of Power Sets</a:t>
            </a:r>
          </a:p>
        </p:txBody>
      </p:sp>
      <p:sp>
        <p:nvSpPr>
          <p:cNvPr id="3" name="Content Placeholder 2">
            <a:extLst>
              <a:ext uri="{FF2B5EF4-FFF2-40B4-BE49-F238E27FC236}">
                <a16:creationId xmlns:a16="http://schemas.microsoft.com/office/drawing/2014/main" id="{C931B084-D872-13C5-6F01-FA85CF461C26}"/>
              </a:ext>
            </a:extLst>
          </p:cNvPr>
          <p:cNvSpPr>
            <a:spLocks noGrp="1"/>
          </p:cNvSpPr>
          <p:nvPr>
            <p:ph idx="1"/>
          </p:nvPr>
        </p:nvSpPr>
        <p:spPr/>
        <p:txBody>
          <a:bodyPr/>
          <a:lstStyle/>
          <a:p>
            <a:pPr fontAlgn="base"/>
            <a:r>
              <a:rPr lang="en-IN" dirty="0"/>
              <a:t>1. If a set has n elements, its power set has 2ⁿ subsets.</a:t>
            </a:r>
          </a:p>
          <a:p>
            <a:pPr lvl="0" fontAlgn="base"/>
            <a:r>
              <a:rPr lang="en-IN" dirty="0"/>
              <a:t>Example: A = {a, b, c} → 3 elements → power set has 2³ = 8 subsets</a:t>
            </a:r>
          </a:p>
          <a:p>
            <a:pPr fontAlgn="base"/>
            <a:r>
              <a:rPr lang="en-IN" dirty="0"/>
              <a:t>2. The power set always includes:</a:t>
            </a:r>
          </a:p>
          <a:p>
            <a:pPr marL="0" lvl="0" indent="0" fontAlgn="base">
              <a:buNone/>
            </a:pPr>
            <a:r>
              <a:rPr lang="en-IN" dirty="0"/>
              <a:t>	- The empty set (∅)</a:t>
            </a:r>
          </a:p>
          <a:p>
            <a:pPr marL="0" lvl="0" indent="0" fontAlgn="base">
              <a:buNone/>
            </a:pPr>
            <a:r>
              <a:rPr lang="en-IN" dirty="0"/>
              <a:t>	- The original set</a:t>
            </a:r>
          </a:p>
          <a:p>
            <a:pPr fontAlgn="base"/>
            <a:r>
              <a:rPr lang="en-IN" dirty="0"/>
              <a:t>3. Power set of ∅ is: P(∅) = {∅}</a:t>
            </a:r>
          </a:p>
          <a:p>
            <a:pPr fontAlgn="base"/>
            <a:r>
              <a:rPr lang="en-IN" dirty="0"/>
              <a:t>4. The power set is always larger than the original set (except when the set is empty).</a:t>
            </a:r>
          </a:p>
        </p:txBody>
      </p:sp>
    </p:spTree>
    <p:extLst>
      <p:ext uri="{BB962C8B-B14F-4D97-AF65-F5344CB8AC3E}">
        <p14:creationId xmlns:p14="http://schemas.microsoft.com/office/powerpoint/2010/main" val="3941140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5916C-94B7-ADBF-0EA5-BD69FE895D40}"/>
              </a:ext>
            </a:extLst>
          </p:cNvPr>
          <p:cNvSpPr>
            <a:spLocks noGrp="1"/>
          </p:cNvSpPr>
          <p:nvPr>
            <p:ph type="title"/>
          </p:nvPr>
        </p:nvSpPr>
        <p:spPr/>
        <p:txBody>
          <a:bodyPr/>
          <a:lstStyle/>
          <a:p>
            <a:r>
              <a:rPr lang="en-IN" dirty="0"/>
              <a:t>Universal Set</a:t>
            </a:r>
          </a:p>
        </p:txBody>
      </p:sp>
      <p:sp>
        <p:nvSpPr>
          <p:cNvPr id="3" name="Content Placeholder 2">
            <a:extLst>
              <a:ext uri="{FF2B5EF4-FFF2-40B4-BE49-F238E27FC236}">
                <a16:creationId xmlns:a16="http://schemas.microsoft.com/office/drawing/2014/main" id="{7B436BD7-2EC8-FA03-2E98-84C59494B8A4}"/>
              </a:ext>
            </a:extLst>
          </p:cNvPr>
          <p:cNvSpPr>
            <a:spLocks noGrp="1"/>
          </p:cNvSpPr>
          <p:nvPr>
            <p:ph idx="1"/>
          </p:nvPr>
        </p:nvSpPr>
        <p:spPr/>
        <p:txBody>
          <a:bodyPr>
            <a:normAutofit lnSpcReduction="10000"/>
          </a:bodyPr>
          <a:lstStyle/>
          <a:p>
            <a:r>
              <a:rPr lang="en-IN" dirty="0"/>
              <a:t>A universal set is a set that contains all the elements of the rest of the sets. It can be said that all the sets are the subsets of Universal sets. The universal set is denoted as U.</a:t>
            </a:r>
          </a:p>
          <a:p>
            <a:pPr lvl="0" fontAlgn="base"/>
            <a:r>
              <a:rPr lang="en-IN" dirty="0"/>
              <a:t>Contains all the elements being discussed.</a:t>
            </a:r>
          </a:p>
          <a:p>
            <a:pPr lvl="0" fontAlgn="base"/>
            <a:r>
              <a:rPr lang="en-IN" dirty="0"/>
              <a:t>Every set is a subset of the universal set.</a:t>
            </a:r>
          </a:p>
          <a:p>
            <a:r>
              <a:rPr lang="en-IN" dirty="0"/>
              <a:t>Example :</a:t>
            </a:r>
          </a:p>
          <a:p>
            <a:pPr marL="0" indent="0" fontAlgn="base">
              <a:buNone/>
            </a:pPr>
            <a:r>
              <a:rPr lang="en-IN" dirty="0"/>
              <a:t>	For Set A = {a, b, c, d} and Set B = {1,2},</a:t>
            </a:r>
          </a:p>
          <a:p>
            <a:pPr marL="0" indent="0" fontAlgn="base">
              <a:buNone/>
            </a:pPr>
            <a:r>
              <a:rPr lang="en-IN" i="1" dirty="0"/>
              <a:t>	Universal Set U is,</a:t>
            </a:r>
          </a:p>
          <a:p>
            <a:pPr marL="0" indent="0" fontAlgn="base">
              <a:buNone/>
            </a:pPr>
            <a:r>
              <a:rPr lang="en-IN" i="1" dirty="0"/>
              <a:t>	U = {a, b, c, d,1, 2}</a:t>
            </a:r>
          </a:p>
          <a:p>
            <a:pPr marL="0" indent="0">
              <a:buNone/>
            </a:pPr>
            <a:endParaRPr lang="en-IN" dirty="0"/>
          </a:p>
        </p:txBody>
      </p:sp>
    </p:spTree>
    <p:extLst>
      <p:ext uri="{BB962C8B-B14F-4D97-AF65-F5344CB8AC3E}">
        <p14:creationId xmlns:p14="http://schemas.microsoft.com/office/powerpoint/2010/main" val="1760784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83FA9-AD75-275D-9999-A74FD99A2065}"/>
              </a:ext>
            </a:extLst>
          </p:cNvPr>
          <p:cNvSpPr>
            <a:spLocks noGrp="1"/>
          </p:cNvSpPr>
          <p:nvPr>
            <p:ph type="title"/>
          </p:nvPr>
        </p:nvSpPr>
        <p:spPr/>
        <p:txBody>
          <a:bodyPr/>
          <a:lstStyle/>
          <a:p>
            <a:r>
              <a:rPr lang="en-IN" dirty="0"/>
              <a:t>Disjoint Sets</a:t>
            </a:r>
          </a:p>
        </p:txBody>
      </p:sp>
      <p:sp>
        <p:nvSpPr>
          <p:cNvPr id="3" name="Content Placeholder 2">
            <a:extLst>
              <a:ext uri="{FF2B5EF4-FFF2-40B4-BE49-F238E27FC236}">
                <a16:creationId xmlns:a16="http://schemas.microsoft.com/office/drawing/2014/main" id="{81C52129-4CFF-948B-7873-AB3F8005F5B8}"/>
              </a:ext>
            </a:extLst>
          </p:cNvPr>
          <p:cNvSpPr>
            <a:spLocks noGrp="1"/>
          </p:cNvSpPr>
          <p:nvPr>
            <p:ph idx="1"/>
          </p:nvPr>
        </p:nvSpPr>
        <p:spPr/>
        <p:txBody>
          <a:bodyPr>
            <a:normAutofit lnSpcReduction="10000"/>
          </a:bodyPr>
          <a:lstStyle/>
          <a:p>
            <a:r>
              <a:rPr lang="en-IN" b="1" dirty="0"/>
              <a:t>That have </a:t>
            </a:r>
            <a:r>
              <a:rPr lang="en-IN" dirty="0"/>
              <a:t>two sets A and B that do have no common elements are called Disjoint Sets. The intersection of the </a:t>
            </a:r>
            <a:r>
              <a:rPr lang="en-IN" u="sng" dirty="0"/>
              <a:t>Disjoint sets</a:t>
            </a:r>
            <a:r>
              <a:rPr lang="en-IN" dirty="0"/>
              <a:t> is ϕ, now for set A and set B, A∩B =  ϕ. </a:t>
            </a:r>
          </a:p>
          <a:p>
            <a:pPr lvl="0" fontAlgn="base"/>
            <a:r>
              <a:rPr lang="en-IN" dirty="0"/>
              <a:t>Disjoint sets can be finite or infinite.</a:t>
            </a:r>
          </a:p>
          <a:p>
            <a:pPr lvl="0" fontAlgn="base"/>
            <a:r>
              <a:rPr lang="en-IN" dirty="0"/>
              <a:t>Two sets can be disjointed even if one or both are empty.</a:t>
            </a:r>
          </a:p>
          <a:p>
            <a:r>
              <a:rPr lang="en-IN" dirty="0"/>
              <a:t>Example :</a:t>
            </a:r>
          </a:p>
          <a:p>
            <a:pPr marL="0" indent="0" fontAlgn="base">
              <a:buNone/>
            </a:pPr>
            <a:r>
              <a:rPr lang="en-IN" i="1" dirty="0"/>
              <a:t>	Set A ={a, b, c, d}</a:t>
            </a:r>
          </a:p>
          <a:p>
            <a:pPr marL="0" indent="0" fontAlgn="base">
              <a:buNone/>
            </a:pPr>
            <a:r>
              <a:rPr lang="en-IN" i="1" dirty="0"/>
              <a:t>	Set B= {1,2}</a:t>
            </a:r>
          </a:p>
          <a:p>
            <a:pPr marL="0" indent="0" fontAlgn="base">
              <a:buNone/>
            </a:pPr>
            <a:r>
              <a:rPr lang="en-IN" i="1" dirty="0"/>
              <a:t>	Here, A∩B =  ϕ</a:t>
            </a:r>
          </a:p>
          <a:p>
            <a:pPr marL="0" indent="0" fontAlgn="base">
              <a:buNone/>
            </a:pPr>
            <a:r>
              <a:rPr lang="en-IN" i="1" dirty="0"/>
              <a:t>	Thus, Set A and Set B are disjoint sets.</a:t>
            </a:r>
          </a:p>
          <a:p>
            <a:pPr marL="0" indent="0">
              <a:buNone/>
            </a:pPr>
            <a:endParaRPr lang="en-IN" dirty="0"/>
          </a:p>
        </p:txBody>
      </p:sp>
    </p:spTree>
    <p:extLst>
      <p:ext uri="{BB962C8B-B14F-4D97-AF65-F5344CB8AC3E}">
        <p14:creationId xmlns:p14="http://schemas.microsoft.com/office/powerpoint/2010/main" val="1601505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63F83-7439-40A3-8FC9-40C133B99777}"/>
              </a:ext>
            </a:extLst>
          </p:cNvPr>
          <p:cNvSpPr>
            <a:spLocks noGrp="1"/>
          </p:cNvSpPr>
          <p:nvPr>
            <p:ph type="title"/>
          </p:nvPr>
        </p:nvSpPr>
        <p:spPr/>
        <p:txBody>
          <a:bodyPr/>
          <a:lstStyle/>
          <a:p>
            <a:r>
              <a:rPr lang="en-IN" dirty="0"/>
              <a:t>Set Operations</a:t>
            </a:r>
          </a:p>
        </p:txBody>
      </p:sp>
      <p:sp>
        <p:nvSpPr>
          <p:cNvPr id="3" name="Content Placeholder 2">
            <a:extLst>
              <a:ext uri="{FF2B5EF4-FFF2-40B4-BE49-F238E27FC236}">
                <a16:creationId xmlns:a16="http://schemas.microsoft.com/office/drawing/2014/main" id="{D30BA074-4B62-1F2B-4A87-8BF493E08F89}"/>
              </a:ext>
            </a:extLst>
          </p:cNvPr>
          <p:cNvSpPr>
            <a:spLocks noGrp="1"/>
          </p:cNvSpPr>
          <p:nvPr>
            <p:ph idx="1"/>
          </p:nvPr>
        </p:nvSpPr>
        <p:spPr/>
        <p:txBody>
          <a:bodyPr/>
          <a:lstStyle/>
          <a:p>
            <a:r>
              <a:rPr lang="en-IN" i="1" dirty="0"/>
              <a:t>Set Operations can be defined as the operations performed on two or more sets to obtain a single set containing a combination of elements from all the sets being operated upon. </a:t>
            </a:r>
          </a:p>
          <a:p>
            <a:pPr lvl="0" fontAlgn="base"/>
            <a:r>
              <a:rPr lang="en-IN" dirty="0"/>
              <a:t>There are three major operations on sets: Union (∪), Intersection (∩), and </a:t>
            </a:r>
          </a:p>
          <a:p>
            <a:pPr marL="0" lvl="0" indent="0" fontAlgn="base">
              <a:buNone/>
            </a:pPr>
            <a:r>
              <a:rPr lang="en-IN" dirty="0"/>
              <a:t>       Difference (-).</a:t>
            </a:r>
          </a:p>
          <a:p>
            <a:pPr lvl="0" fontAlgn="base"/>
            <a:r>
              <a:rPr lang="en-IN" dirty="0"/>
              <a:t>Other operations include Complement, Symmetric Difference, Addition, and Subtraction.</a:t>
            </a:r>
          </a:p>
          <a:p>
            <a:endParaRPr lang="en-IN" dirty="0"/>
          </a:p>
        </p:txBody>
      </p:sp>
    </p:spTree>
    <p:extLst>
      <p:ext uri="{BB962C8B-B14F-4D97-AF65-F5344CB8AC3E}">
        <p14:creationId xmlns:p14="http://schemas.microsoft.com/office/powerpoint/2010/main" val="36915756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62A25-15C3-17FC-ACDF-04658CCD88E1}"/>
              </a:ext>
            </a:extLst>
          </p:cNvPr>
          <p:cNvSpPr>
            <a:spLocks noGrp="1"/>
          </p:cNvSpPr>
          <p:nvPr>
            <p:ph type="title"/>
          </p:nvPr>
        </p:nvSpPr>
        <p:spPr>
          <a:xfrm>
            <a:off x="1371600" y="338666"/>
            <a:ext cx="9601200" cy="1485900"/>
          </a:xfrm>
        </p:spPr>
        <p:txBody>
          <a:bodyPr/>
          <a:lstStyle/>
          <a:p>
            <a:r>
              <a:rPr lang="en-IN" dirty="0"/>
              <a:t>Union of Sets</a:t>
            </a:r>
          </a:p>
        </p:txBody>
      </p:sp>
      <p:sp>
        <p:nvSpPr>
          <p:cNvPr id="3" name="Content Placeholder 2">
            <a:extLst>
              <a:ext uri="{FF2B5EF4-FFF2-40B4-BE49-F238E27FC236}">
                <a16:creationId xmlns:a16="http://schemas.microsoft.com/office/drawing/2014/main" id="{9BC2AA2B-FA6D-D11B-1149-16CADCE9D413}"/>
              </a:ext>
            </a:extLst>
          </p:cNvPr>
          <p:cNvSpPr>
            <a:spLocks noGrp="1"/>
          </p:cNvSpPr>
          <p:nvPr>
            <p:ph idx="1"/>
          </p:nvPr>
        </p:nvSpPr>
        <p:spPr>
          <a:xfrm>
            <a:off x="1371600" y="1223433"/>
            <a:ext cx="9601200" cy="4533900"/>
          </a:xfrm>
        </p:spPr>
        <p:txBody>
          <a:bodyPr/>
          <a:lstStyle/>
          <a:p>
            <a:pPr fontAlgn="base"/>
            <a:r>
              <a:rPr lang="en-IN" dirty="0"/>
              <a:t>The Union of Sets A and B, denoted by A ∪ B, is the set of distinct elements that belong to set A or set B, or both.</a:t>
            </a:r>
          </a:p>
          <a:p>
            <a:pPr fontAlgn="base"/>
            <a:r>
              <a:rPr lang="en-IN" dirty="0"/>
              <a:t>In simple terms, the union includes every element that appears in either of the two sets(or both), without any repetition.</a:t>
            </a:r>
          </a:p>
          <a:p>
            <a:pPr fontAlgn="base"/>
            <a:r>
              <a:rPr lang="en-IN" dirty="0"/>
              <a:t>The union of A = {2, 3, 4} and B = {3, 4, 5}.</a:t>
            </a:r>
          </a:p>
          <a:p>
            <a:pPr marL="0" indent="0" fontAlgn="base">
              <a:buNone/>
            </a:pPr>
            <a:r>
              <a:rPr lang="en-IN" i="1" dirty="0"/>
              <a:t>	A ∪ B = {2, 3, 4, 5}.</a:t>
            </a:r>
          </a:p>
          <a:p>
            <a:pPr fontAlgn="base"/>
            <a:endParaRPr lang="en-IN" dirty="0"/>
          </a:p>
          <a:p>
            <a:endParaRPr lang="en-IN" dirty="0"/>
          </a:p>
        </p:txBody>
      </p:sp>
      <p:pic>
        <p:nvPicPr>
          <p:cNvPr id="5" name="Picture 4">
            <a:extLst>
              <a:ext uri="{FF2B5EF4-FFF2-40B4-BE49-F238E27FC236}">
                <a16:creationId xmlns:a16="http://schemas.microsoft.com/office/drawing/2014/main" id="{36CC4CB3-DA94-7AD4-E9AF-295667B177F1}"/>
              </a:ext>
            </a:extLst>
          </p:cNvPr>
          <p:cNvPicPr>
            <a:picLocks noChangeAspect="1"/>
          </p:cNvPicPr>
          <p:nvPr/>
        </p:nvPicPr>
        <p:blipFill>
          <a:blip r:embed="rId2"/>
          <a:stretch>
            <a:fillRect/>
          </a:stretch>
        </p:blipFill>
        <p:spPr>
          <a:xfrm>
            <a:off x="3496822" y="3759201"/>
            <a:ext cx="6315956" cy="3098800"/>
          </a:xfrm>
          <a:prstGeom prst="rect">
            <a:avLst/>
          </a:prstGeom>
        </p:spPr>
      </p:pic>
    </p:spTree>
    <p:extLst>
      <p:ext uri="{BB962C8B-B14F-4D97-AF65-F5344CB8AC3E}">
        <p14:creationId xmlns:p14="http://schemas.microsoft.com/office/powerpoint/2010/main" val="1587502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9EE41-847F-4C57-89DF-D2A1E9EFE847}"/>
              </a:ext>
            </a:extLst>
          </p:cNvPr>
          <p:cNvSpPr>
            <a:spLocks noGrp="1"/>
          </p:cNvSpPr>
          <p:nvPr>
            <p:ph type="title"/>
          </p:nvPr>
        </p:nvSpPr>
        <p:spPr>
          <a:xfrm>
            <a:off x="1371600" y="283633"/>
            <a:ext cx="9601200" cy="1485900"/>
          </a:xfrm>
        </p:spPr>
        <p:txBody>
          <a:bodyPr/>
          <a:lstStyle/>
          <a:p>
            <a:r>
              <a:rPr lang="en-IN" dirty="0"/>
              <a:t>Intersection</a:t>
            </a:r>
          </a:p>
        </p:txBody>
      </p:sp>
      <p:sp>
        <p:nvSpPr>
          <p:cNvPr id="3" name="Content Placeholder 2">
            <a:extLst>
              <a:ext uri="{FF2B5EF4-FFF2-40B4-BE49-F238E27FC236}">
                <a16:creationId xmlns:a16="http://schemas.microsoft.com/office/drawing/2014/main" id="{9A199360-A235-C663-9783-75ADB49F0942}"/>
              </a:ext>
            </a:extLst>
          </p:cNvPr>
          <p:cNvSpPr>
            <a:spLocks noGrp="1"/>
          </p:cNvSpPr>
          <p:nvPr>
            <p:ph idx="1"/>
          </p:nvPr>
        </p:nvSpPr>
        <p:spPr>
          <a:xfrm>
            <a:off x="1371600" y="1346200"/>
            <a:ext cx="9601200" cy="3581400"/>
          </a:xfrm>
        </p:spPr>
        <p:txBody>
          <a:bodyPr/>
          <a:lstStyle/>
          <a:p>
            <a:r>
              <a:rPr lang="en-IN" dirty="0"/>
              <a:t>The</a:t>
            </a:r>
            <a:r>
              <a:rPr lang="en-IN" u="sng" dirty="0"/>
              <a:t> </a:t>
            </a:r>
            <a:r>
              <a:rPr lang="en-IN" dirty="0"/>
              <a:t>intersection of sets A and B, denoted by</a:t>
            </a:r>
            <a:r>
              <a:rPr lang="en-IN" b="1" dirty="0"/>
              <a:t> A ∩ B,</a:t>
            </a:r>
            <a:r>
              <a:rPr lang="en-IN" dirty="0"/>
              <a:t> is the set of elements that belong to both A and B, i.e. set of the common elements in A and B.</a:t>
            </a:r>
          </a:p>
          <a:p>
            <a:r>
              <a:rPr lang="en-IN" dirty="0"/>
              <a:t>In other words, the intersection contains only those elements that are present in both sets.</a:t>
            </a:r>
          </a:p>
          <a:p>
            <a:pPr fontAlgn="base"/>
            <a:r>
              <a:rPr lang="en-IN" dirty="0"/>
              <a:t>The intersection of A = {2, 3, 4} and B = {3, 4, 5}</a:t>
            </a:r>
            <a:endParaRPr lang="en-IN" i="1" dirty="0"/>
          </a:p>
          <a:p>
            <a:pPr marL="0" indent="0" fontAlgn="base">
              <a:buNone/>
            </a:pPr>
            <a:r>
              <a:rPr lang="en-IN" i="1" dirty="0"/>
              <a:t>	A ∩ B = {3, 4}.</a:t>
            </a:r>
          </a:p>
          <a:p>
            <a:pPr marL="0" indent="0" fontAlgn="base">
              <a:buNone/>
            </a:pPr>
            <a:endParaRPr lang="en-IN" i="1" dirty="0"/>
          </a:p>
          <a:p>
            <a:endParaRPr lang="en-IN" dirty="0"/>
          </a:p>
        </p:txBody>
      </p:sp>
      <p:pic>
        <p:nvPicPr>
          <p:cNvPr id="5" name="Picture 4">
            <a:extLst>
              <a:ext uri="{FF2B5EF4-FFF2-40B4-BE49-F238E27FC236}">
                <a16:creationId xmlns:a16="http://schemas.microsoft.com/office/drawing/2014/main" id="{939455D3-766A-B575-E94A-7EC86242FD73}"/>
              </a:ext>
            </a:extLst>
          </p:cNvPr>
          <p:cNvPicPr>
            <a:picLocks noChangeAspect="1"/>
          </p:cNvPicPr>
          <p:nvPr/>
        </p:nvPicPr>
        <p:blipFill>
          <a:blip r:embed="rId2"/>
          <a:stretch>
            <a:fillRect/>
          </a:stretch>
        </p:blipFill>
        <p:spPr>
          <a:xfrm>
            <a:off x="3987365" y="3676154"/>
            <a:ext cx="5800102" cy="2898213"/>
          </a:xfrm>
          <a:prstGeom prst="rect">
            <a:avLst/>
          </a:prstGeom>
        </p:spPr>
      </p:pic>
    </p:spTree>
    <p:extLst>
      <p:ext uri="{BB962C8B-B14F-4D97-AF65-F5344CB8AC3E}">
        <p14:creationId xmlns:p14="http://schemas.microsoft.com/office/powerpoint/2010/main" val="6312656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D70F4-69CC-C718-0B89-84CC0691AD95}"/>
              </a:ext>
            </a:extLst>
          </p:cNvPr>
          <p:cNvSpPr>
            <a:spLocks noGrp="1"/>
          </p:cNvSpPr>
          <p:nvPr>
            <p:ph type="title"/>
          </p:nvPr>
        </p:nvSpPr>
        <p:spPr/>
        <p:txBody>
          <a:bodyPr/>
          <a:lstStyle/>
          <a:p>
            <a:r>
              <a:rPr lang="en-IN" dirty="0"/>
              <a:t>Set Difference</a:t>
            </a:r>
          </a:p>
        </p:txBody>
      </p:sp>
      <p:sp>
        <p:nvSpPr>
          <p:cNvPr id="3" name="Content Placeholder 2">
            <a:extLst>
              <a:ext uri="{FF2B5EF4-FFF2-40B4-BE49-F238E27FC236}">
                <a16:creationId xmlns:a16="http://schemas.microsoft.com/office/drawing/2014/main" id="{8BEA7781-6FF9-A7FF-B4E4-9A140A765587}"/>
              </a:ext>
            </a:extLst>
          </p:cNvPr>
          <p:cNvSpPr>
            <a:spLocks noGrp="1"/>
          </p:cNvSpPr>
          <p:nvPr>
            <p:ph idx="1"/>
          </p:nvPr>
        </p:nvSpPr>
        <p:spPr/>
        <p:txBody>
          <a:bodyPr/>
          <a:lstStyle/>
          <a:p>
            <a:r>
              <a:rPr lang="en-IN" dirty="0"/>
              <a:t>The difference between sets is denoted by</a:t>
            </a:r>
            <a:r>
              <a:rPr lang="en-IN" b="1" dirty="0"/>
              <a:t> 'A - B'</a:t>
            </a:r>
            <a:r>
              <a:rPr lang="en-IN" dirty="0"/>
              <a:t>, which is the set containing elements that are in A but not in B i.e., all elements of A except the element of B.</a:t>
            </a:r>
          </a:p>
          <a:p>
            <a:pPr fontAlgn="base"/>
            <a:r>
              <a:rPr lang="en-IN" dirty="0"/>
              <a:t>If A = {1, 2, 3, 4, 5} and B = {2, 4, 6, 8}</a:t>
            </a:r>
            <a:br>
              <a:rPr lang="en-IN" dirty="0"/>
            </a:br>
            <a:r>
              <a:rPr lang="en-IN" i="1" dirty="0"/>
              <a:t>A - B = {1, 3, 5}</a:t>
            </a:r>
          </a:p>
          <a:p>
            <a:endParaRPr lang="en-IN" dirty="0"/>
          </a:p>
          <a:p>
            <a:endParaRPr lang="en-IN" dirty="0"/>
          </a:p>
        </p:txBody>
      </p:sp>
      <p:pic>
        <p:nvPicPr>
          <p:cNvPr id="6" name="Picture 5" descr="Maths">
            <a:extLst>
              <a:ext uri="{FF2B5EF4-FFF2-40B4-BE49-F238E27FC236}">
                <a16:creationId xmlns:a16="http://schemas.microsoft.com/office/drawing/2014/main" id="{26F37559-4E11-F630-1198-FD77704270C9}"/>
              </a:ext>
            </a:extLst>
          </p:cNvPr>
          <p:cNvPicPr>
            <a:picLocks noChangeAspect="1"/>
          </p:cNvPicPr>
          <p:nvPr/>
        </p:nvPicPr>
        <p:blipFill>
          <a:blip r:embed="rId2"/>
          <a:stretch>
            <a:fillRect/>
          </a:stretch>
        </p:blipFill>
        <p:spPr>
          <a:xfrm>
            <a:off x="4029075" y="3589868"/>
            <a:ext cx="4133850" cy="2946400"/>
          </a:xfrm>
          <a:prstGeom prst="rect">
            <a:avLst/>
          </a:prstGeom>
        </p:spPr>
      </p:pic>
    </p:spTree>
    <p:extLst>
      <p:ext uri="{BB962C8B-B14F-4D97-AF65-F5344CB8AC3E}">
        <p14:creationId xmlns:p14="http://schemas.microsoft.com/office/powerpoint/2010/main" val="27987194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26E75-47F3-6945-F3D8-DBC048B2D7EA}"/>
              </a:ext>
            </a:extLst>
          </p:cNvPr>
          <p:cNvSpPr>
            <a:spLocks noGrp="1"/>
          </p:cNvSpPr>
          <p:nvPr>
            <p:ph type="title"/>
          </p:nvPr>
        </p:nvSpPr>
        <p:spPr/>
        <p:txBody>
          <a:bodyPr/>
          <a:lstStyle/>
          <a:p>
            <a:r>
              <a:rPr lang="en-IN" dirty="0"/>
              <a:t>Complement of a set</a:t>
            </a:r>
          </a:p>
        </p:txBody>
      </p:sp>
      <p:sp>
        <p:nvSpPr>
          <p:cNvPr id="3" name="Content Placeholder 2">
            <a:extLst>
              <a:ext uri="{FF2B5EF4-FFF2-40B4-BE49-F238E27FC236}">
                <a16:creationId xmlns:a16="http://schemas.microsoft.com/office/drawing/2014/main" id="{83CB5528-BDE2-45DC-A6E1-4AD303B33A1D}"/>
              </a:ext>
            </a:extLst>
          </p:cNvPr>
          <p:cNvSpPr>
            <a:spLocks noGrp="1"/>
          </p:cNvSpPr>
          <p:nvPr>
            <p:ph idx="1"/>
          </p:nvPr>
        </p:nvSpPr>
        <p:spPr>
          <a:xfrm>
            <a:off x="1371600" y="1532467"/>
            <a:ext cx="9601200" cy="3581400"/>
          </a:xfrm>
        </p:spPr>
        <p:txBody>
          <a:bodyPr/>
          <a:lstStyle/>
          <a:p>
            <a:r>
              <a:rPr lang="en-IN" dirty="0"/>
              <a:t>If U is a universal set and A is any subset of U, then the complement of A consists of all the elements in U that are not in A.</a:t>
            </a:r>
          </a:p>
          <a:p>
            <a:r>
              <a:rPr lang="en-IN" dirty="0"/>
              <a:t>Let U = {1, 2, 3, 4, 5, 6, 7, 8} And A = {1, 2, 5, 6}</a:t>
            </a:r>
          </a:p>
          <a:p>
            <a:pPr marL="0" indent="0">
              <a:buNone/>
            </a:pPr>
            <a:r>
              <a:rPr lang="en-IN" i="1" dirty="0"/>
              <a:t>	Then, the </a:t>
            </a:r>
            <a:r>
              <a:rPr lang="en-IN" dirty="0"/>
              <a:t>complement</a:t>
            </a:r>
            <a:r>
              <a:rPr lang="en-IN" i="1" dirty="0"/>
              <a:t> of A, denoted as A′, will be: A′ = {3, 4, 7, 8}</a:t>
            </a:r>
          </a:p>
          <a:p>
            <a:pPr marL="0" indent="0">
              <a:buNone/>
            </a:pPr>
            <a:endParaRPr lang="en-IN" dirty="0"/>
          </a:p>
        </p:txBody>
      </p:sp>
      <p:pic>
        <p:nvPicPr>
          <p:cNvPr id="5" name="Picture 4">
            <a:extLst>
              <a:ext uri="{FF2B5EF4-FFF2-40B4-BE49-F238E27FC236}">
                <a16:creationId xmlns:a16="http://schemas.microsoft.com/office/drawing/2014/main" id="{5F594646-9AE5-B4D3-3842-8C6E37AE797E}"/>
              </a:ext>
            </a:extLst>
          </p:cNvPr>
          <p:cNvPicPr>
            <a:picLocks noChangeAspect="1"/>
          </p:cNvPicPr>
          <p:nvPr/>
        </p:nvPicPr>
        <p:blipFill>
          <a:blip r:embed="rId2"/>
          <a:stretch>
            <a:fillRect/>
          </a:stretch>
        </p:blipFill>
        <p:spPr>
          <a:xfrm>
            <a:off x="3985219" y="3213340"/>
            <a:ext cx="4373962" cy="3187461"/>
          </a:xfrm>
          <a:prstGeom prst="rect">
            <a:avLst/>
          </a:prstGeom>
        </p:spPr>
      </p:pic>
    </p:spTree>
    <p:extLst>
      <p:ext uri="{BB962C8B-B14F-4D97-AF65-F5344CB8AC3E}">
        <p14:creationId xmlns:p14="http://schemas.microsoft.com/office/powerpoint/2010/main" val="1691608712"/>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{4C129770-8142-441A-98EC-0D2E33C2E765}TFc3084226-2d0c-440f-9f46-6b48c7a7f670e6ba4a85-fc4a2881d6b3</Template>
  <TotalTime>347</TotalTime>
  <Words>2477</Words>
  <Application>Microsoft Office PowerPoint</Application>
  <PresentationFormat>Widescreen</PresentationFormat>
  <Paragraphs>215</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Cambria Math</vt:lpstr>
      <vt:lpstr>Franklin Gothic Book</vt:lpstr>
      <vt:lpstr>Crop</vt:lpstr>
      <vt:lpstr> 3341 DISCRETE MATHEMATICS</vt:lpstr>
      <vt:lpstr>Contents</vt:lpstr>
      <vt:lpstr>What is a set</vt:lpstr>
      <vt:lpstr>Common sets</vt:lpstr>
      <vt:lpstr>Characteristics of a set</vt:lpstr>
      <vt:lpstr>PowerPoint Presentation</vt:lpstr>
      <vt:lpstr>Elements of a set</vt:lpstr>
      <vt:lpstr>Representation of sets</vt:lpstr>
      <vt:lpstr>Roster (Tabular) Form</vt:lpstr>
      <vt:lpstr>Set builder form</vt:lpstr>
      <vt:lpstr>PowerPoint Presentation</vt:lpstr>
      <vt:lpstr>Elements and Cardinality</vt:lpstr>
      <vt:lpstr>Types of set</vt:lpstr>
      <vt:lpstr>Singleton set</vt:lpstr>
      <vt:lpstr>Empty set</vt:lpstr>
      <vt:lpstr>Finite set</vt:lpstr>
      <vt:lpstr>Infinite set</vt:lpstr>
      <vt:lpstr>Equal set</vt:lpstr>
      <vt:lpstr>Equivalent Set</vt:lpstr>
      <vt:lpstr>Subset</vt:lpstr>
      <vt:lpstr>Proper Subset</vt:lpstr>
      <vt:lpstr>Power Set</vt:lpstr>
      <vt:lpstr>Properties of Power Sets</vt:lpstr>
      <vt:lpstr>Universal Set</vt:lpstr>
      <vt:lpstr>Disjoint Sets</vt:lpstr>
      <vt:lpstr>Set Operations</vt:lpstr>
      <vt:lpstr>Union of Sets</vt:lpstr>
      <vt:lpstr>Intersection</vt:lpstr>
      <vt:lpstr>Set Difference</vt:lpstr>
      <vt:lpstr>Complement of a set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Kalyani M Biju</dc:creator>
  <cp:lastModifiedBy>Kalyani M Biju</cp:lastModifiedBy>
  <cp:revision>6</cp:revision>
  <dcterms:created xsi:type="dcterms:W3CDTF">2026-08-04T17:45:12Z</dcterms:created>
  <dcterms:modified xsi:type="dcterms:W3CDTF">2026-08-19T07:09:10Z</dcterms:modified>
</cp:coreProperties>
</file>